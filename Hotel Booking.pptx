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6858000" cy="9144000"/>
  <p:embeddedFontLst>
    <p:embeddedFont>
      <p:font typeface="Comic Sans MS" panose="030F0702030302020204" pitchFamily="66" charset="0"/>
      <p:regular r:id="rId34"/>
      <p:bold r:id="rId35"/>
      <p:italic r:id="rId36"/>
      <p:boldItalic r:id="rId37"/>
    </p:embeddedFont>
    <p:embeddedFont>
      <p:font typeface="Roboto" panose="020F0502020204030204"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1bc18014d0e_0_4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1bc18014d0e_0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1bc18014d0e_0_4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1bc18014d0e_0_4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1bc18014d0e_0_4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bc18014d0e_0_4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1bc18014d0e_0_5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1bc18014d0e_0_5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bc18014d0e_0_4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bc18014d0e_0_4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bc18014d0e_0_4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bc18014d0e_0_4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1bc18014d0e_0_4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1bc18014d0e_0_4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bc18014d0e_0_5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1bc18014d0e_0_5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1bc18014d0e_0_4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1bc18014d0e_0_4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1bc18014d0e_0_4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1bc18014d0e_0_4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1bc18014d0e_0_5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1bc18014d0e_0_5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1bc18014d0e_0_5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1bc18014d0e_0_5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bc18014d0e_0_5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1bc18014d0e_0_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1bc18014d0e_0_5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1bc18014d0e_0_5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1bc18014d0e_9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1bc18014d0e_9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1bc18014d0e_9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1bc18014d0e_9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1bc18014d0e_9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1bc18014d0e_9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bc18014d0e_9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1bc18014d0e_9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1bc18014d0e_0_5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1bc18014d0e_0_5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1bcac65645e_3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1bcac65645e_3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1bc18014d0e_0_6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1bc18014d0e_0_6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1bc18014d0e_9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1bc18014d0e_9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1bc18014d0e_0_5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1bc18014d0e_0_5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1bc18014d0e_0_5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1bc18014d0e_0_5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1bc18014d0e_0_5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1bc18014d0e_0_5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1bc18014d0e_0_5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1bc18014d0e_0_5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1bc18014d0e_0_6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1bc18014d0e_0_6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1bcac65645e_3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1bcac65645e_3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1bc18014d0e_0_6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1bc18014d0e_0_6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1bc18014d0e_0_6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1bc18014d0e_0_6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gif"/></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9.gif"/><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24.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30.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7.gif"/><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249575" y="186350"/>
            <a:ext cx="8520600" cy="20997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Clr>
                <a:schemeClr val="dk1"/>
              </a:buClr>
              <a:buSzPct val="28448"/>
              <a:buFont typeface="Arial"/>
              <a:buNone/>
            </a:pPr>
            <a:r>
              <a:rPr lang="en" sz="3866" b="1" u="sng">
                <a:latin typeface="Comic Sans MS"/>
                <a:ea typeface="Comic Sans MS"/>
                <a:cs typeface="Comic Sans MS"/>
                <a:sym typeface="Comic Sans MS"/>
              </a:rPr>
              <a:t>Capstone Project</a:t>
            </a:r>
            <a:endParaRPr sz="3866" b="1" u="sng">
              <a:latin typeface="Comic Sans MS"/>
              <a:ea typeface="Comic Sans MS"/>
              <a:cs typeface="Comic Sans MS"/>
              <a:sym typeface="Comic Sans MS"/>
            </a:endParaRPr>
          </a:p>
          <a:p>
            <a:pPr marL="0" lvl="0" indent="0" algn="l" rtl="0">
              <a:spcBef>
                <a:spcPts val="0"/>
              </a:spcBef>
              <a:spcAft>
                <a:spcPts val="0"/>
              </a:spcAft>
              <a:buClr>
                <a:schemeClr val="dk1"/>
              </a:buClr>
              <a:buSzPts val="990"/>
              <a:buFont typeface="Arial"/>
              <a:buNone/>
            </a:pPr>
            <a:r>
              <a:rPr lang="en" b="1" u="sng">
                <a:solidFill>
                  <a:srgbClr val="0B5394"/>
                </a:solidFill>
                <a:highlight>
                  <a:schemeClr val="lt1"/>
                </a:highlight>
              </a:rPr>
              <a:t>Hotel Booking EDA Analysis</a:t>
            </a:r>
            <a:endParaRPr b="1" u="sng">
              <a:solidFill>
                <a:srgbClr val="0B5394"/>
              </a:solidFill>
              <a:highlight>
                <a:schemeClr val="lt1"/>
              </a:highlight>
            </a:endParaRPr>
          </a:p>
          <a:p>
            <a:pPr marL="0" lvl="0" indent="0" algn="ctr" rtl="0">
              <a:spcBef>
                <a:spcPts val="0"/>
              </a:spcBef>
              <a:spcAft>
                <a:spcPts val="0"/>
              </a:spcAft>
              <a:buNone/>
            </a:pPr>
            <a:endParaRPr/>
          </a:p>
        </p:txBody>
      </p:sp>
      <p:pic>
        <p:nvPicPr>
          <p:cNvPr id="55" name="Google Shape;55;p13"/>
          <p:cNvPicPr preferRelativeResize="0"/>
          <p:nvPr/>
        </p:nvPicPr>
        <p:blipFill>
          <a:blip r:embed="rId3">
            <a:alphaModFix/>
          </a:blip>
          <a:stretch>
            <a:fillRect/>
          </a:stretch>
        </p:blipFill>
        <p:spPr>
          <a:xfrm>
            <a:off x="152350" y="2123600"/>
            <a:ext cx="2854175" cy="2854175"/>
          </a:xfrm>
          <a:prstGeom prst="rect">
            <a:avLst/>
          </a:prstGeom>
          <a:noFill/>
          <a:ln>
            <a:noFill/>
          </a:ln>
        </p:spPr>
      </p:pic>
      <p:sp>
        <p:nvSpPr>
          <p:cNvPr id="56" name="Google Shape;56;p13"/>
          <p:cNvSpPr txBox="1"/>
          <p:nvPr/>
        </p:nvSpPr>
        <p:spPr>
          <a:xfrm>
            <a:off x="4464725" y="3115456"/>
            <a:ext cx="3987900"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IN" sz="1800" dirty="0"/>
              <a:t>Md Sarfaraz Iqbal</a:t>
            </a:r>
          </a:p>
        </p:txBody>
      </p:sp>
      <p:pic>
        <p:nvPicPr>
          <p:cNvPr id="57" name="Google Shape;57;p13"/>
          <p:cNvPicPr preferRelativeResize="0"/>
          <p:nvPr/>
        </p:nvPicPr>
        <p:blipFill>
          <a:blip r:embed="rId4">
            <a:alphaModFix/>
          </a:blip>
          <a:stretch>
            <a:fillRect/>
          </a:stretch>
        </p:blipFill>
        <p:spPr>
          <a:xfrm>
            <a:off x="8361517" y="-8"/>
            <a:ext cx="782475" cy="7824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4"/>
          <p:cNvSpPr txBox="1">
            <a:spLocks noGrp="1"/>
          </p:cNvSpPr>
          <p:nvPr>
            <p:ph type="title"/>
          </p:nvPr>
        </p:nvSpPr>
        <p:spPr>
          <a:xfrm>
            <a:off x="250450" y="104888"/>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Content:</a:t>
            </a:r>
            <a:endParaRPr b="1" u="sng"/>
          </a:p>
        </p:txBody>
      </p:sp>
      <p:sp>
        <p:nvSpPr>
          <p:cNvPr id="63" name="Google Shape;63;p14"/>
          <p:cNvSpPr txBox="1">
            <a:spLocks noGrp="1"/>
          </p:cNvSpPr>
          <p:nvPr>
            <p:ph type="body" idx="1"/>
          </p:nvPr>
        </p:nvSpPr>
        <p:spPr>
          <a:xfrm>
            <a:off x="250450" y="887875"/>
            <a:ext cx="8581800" cy="3982200"/>
          </a:xfrm>
          <a:prstGeom prst="rect">
            <a:avLst/>
          </a:prstGeom>
        </p:spPr>
        <p:txBody>
          <a:bodyPr spcFirstLastPara="1" wrap="square" lIns="91425" tIns="91425" rIns="91425" bIns="91425" anchor="t" anchorCtr="0">
            <a:normAutofit/>
          </a:bodyPr>
          <a:lstStyle/>
          <a:p>
            <a:pPr marL="457200" lvl="0" indent="-317500" algn="l" rtl="0">
              <a:lnSpc>
                <a:spcPct val="150000"/>
              </a:lnSpc>
              <a:spcBef>
                <a:spcPts val="0"/>
              </a:spcBef>
              <a:spcAft>
                <a:spcPts val="0"/>
              </a:spcAft>
              <a:buClr>
                <a:schemeClr val="dk1"/>
              </a:buClr>
              <a:buSzPts val="1400"/>
              <a:buAutoNum type="arabicPeriod"/>
            </a:pPr>
            <a:r>
              <a:rPr lang="en" sz="1400">
                <a:solidFill>
                  <a:schemeClr val="dk1"/>
                </a:solidFill>
              </a:rPr>
              <a:t>Problem Statement</a:t>
            </a:r>
            <a:endParaRPr sz="1400">
              <a:solidFill>
                <a:schemeClr val="dk1"/>
              </a:solidFill>
            </a:endParaRPr>
          </a:p>
          <a:p>
            <a:pPr marL="457200" lvl="0" indent="-317500" algn="l" rtl="0">
              <a:lnSpc>
                <a:spcPct val="150000"/>
              </a:lnSpc>
              <a:spcBef>
                <a:spcPts val="0"/>
              </a:spcBef>
              <a:spcAft>
                <a:spcPts val="0"/>
              </a:spcAft>
              <a:buClr>
                <a:schemeClr val="dk1"/>
              </a:buClr>
              <a:buSzPts val="1400"/>
              <a:buAutoNum type="arabicPeriod"/>
            </a:pPr>
            <a:r>
              <a:rPr lang="en" sz="1400">
                <a:solidFill>
                  <a:schemeClr val="dk1"/>
                </a:solidFill>
              </a:rPr>
              <a:t>Hotel Booking Analysis and its data</a:t>
            </a:r>
            <a:endParaRPr sz="1400">
              <a:solidFill>
                <a:schemeClr val="dk1"/>
              </a:solidFill>
            </a:endParaRPr>
          </a:p>
          <a:p>
            <a:pPr marL="457200" lvl="0" indent="-317500" algn="l" rtl="0">
              <a:lnSpc>
                <a:spcPct val="150000"/>
              </a:lnSpc>
              <a:spcBef>
                <a:spcPts val="0"/>
              </a:spcBef>
              <a:spcAft>
                <a:spcPts val="0"/>
              </a:spcAft>
              <a:buClr>
                <a:schemeClr val="dk1"/>
              </a:buClr>
              <a:buSzPts val="1400"/>
              <a:buAutoNum type="arabicPeriod"/>
            </a:pPr>
            <a:r>
              <a:rPr lang="en" sz="1400">
                <a:solidFill>
                  <a:schemeClr val="dk1"/>
                </a:solidFill>
              </a:rPr>
              <a:t>Data Summary</a:t>
            </a:r>
            <a:endParaRPr sz="1400">
              <a:solidFill>
                <a:schemeClr val="dk1"/>
              </a:solidFill>
            </a:endParaRPr>
          </a:p>
          <a:p>
            <a:pPr marL="457200" lvl="0" indent="-317500" algn="l" rtl="0">
              <a:lnSpc>
                <a:spcPct val="150000"/>
              </a:lnSpc>
              <a:spcBef>
                <a:spcPts val="0"/>
              </a:spcBef>
              <a:spcAft>
                <a:spcPts val="0"/>
              </a:spcAft>
              <a:buClr>
                <a:schemeClr val="dk1"/>
              </a:buClr>
              <a:buSzPts val="1400"/>
              <a:buAutoNum type="arabicPeriod"/>
            </a:pPr>
            <a:r>
              <a:rPr lang="en" sz="1400">
                <a:solidFill>
                  <a:schemeClr val="dk1"/>
                </a:solidFill>
              </a:rPr>
              <a:t>Exploring our database</a:t>
            </a:r>
            <a:endParaRPr sz="1400">
              <a:solidFill>
                <a:schemeClr val="dk1"/>
              </a:solidFill>
            </a:endParaRPr>
          </a:p>
          <a:p>
            <a:pPr marL="457200" lvl="0" indent="-317500" algn="l" rtl="0">
              <a:lnSpc>
                <a:spcPct val="150000"/>
              </a:lnSpc>
              <a:spcBef>
                <a:spcPts val="0"/>
              </a:spcBef>
              <a:spcAft>
                <a:spcPts val="0"/>
              </a:spcAft>
              <a:buClr>
                <a:schemeClr val="dk1"/>
              </a:buClr>
              <a:buSzPts val="1400"/>
              <a:buAutoNum type="arabicPeriod"/>
            </a:pPr>
            <a:r>
              <a:rPr lang="en" sz="1400">
                <a:solidFill>
                  <a:schemeClr val="dk1"/>
                </a:solidFill>
              </a:rPr>
              <a:t>Flow chart and EDA Analysis</a:t>
            </a:r>
            <a:endParaRPr sz="1400">
              <a:solidFill>
                <a:schemeClr val="dk1"/>
              </a:solidFill>
            </a:endParaRPr>
          </a:p>
          <a:p>
            <a:pPr marL="457200" lvl="0" indent="-317500" algn="l" rtl="0">
              <a:lnSpc>
                <a:spcPct val="150000"/>
              </a:lnSpc>
              <a:spcBef>
                <a:spcPts val="0"/>
              </a:spcBef>
              <a:spcAft>
                <a:spcPts val="0"/>
              </a:spcAft>
              <a:buClr>
                <a:schemeClr val="dk1"/>
              </a:buClr>
              <a:buSzPts val="1400"/>
              <a:buAutoNum type="arabicPeriod"/>
            </a:pPr>
            <a:r>
              <a:rPr lang="en" sz="1400">
                <a:solidFill>
                  <a:schemeClr val="dk1"/>
                </a:solidFill>
              </a:rPr>
              <a:t>Cleaning of Data and Manipulation</a:t>
            </a:r>
            <a:endParaRPr sz="1400">
              <a:solidFill>
                <a:schemeClr val="dk1"/>
              </a:solidFill>
            </a:endParaRPr>
          </a:p>
          <a:p>
            <a:pPr marL="457200" lvl="0" indent="-317500" algn="l" rtl="0">
              <a:lnSpc>
                <a:spcPct val="150000"/>
              </a:lnSpc>
              <a:spcBef>
                <a:spcPts val="0"/>
              </a:spcBef>
              <a:spcAft>
                <a:spcPts val="0"/>
              </a:spcAft>
              <a:buClr>
                <a:schemeClr val="dk1"/>
              </a:buClr>
              <a:buSzPts val="1400"/>
              <a:buAutoNum type="arabicPeriod"/>
            </a:pPr>
            <a:r>
              <a:rPr lang="en" sz="1400">
                <a:solidFill>
                  <a:schemeClr val="dk1"/>
                </a:solidFill>
              </a:rPr>
              <a:t>Data Visualization</a:t>
            </a:r>
            <a:endParaRPr sz="1400">
              <a:solidFill>
                <a:schemeClr val="dk1"/>
              </a:solidFill>
            </a:endParaRPr>
          </a:p>
          <a:p>
            <a:pPr marL="457200" lvl="0" indent="-317500" algn="l" rtl="0">
              <a:lnSpc>
                <a:spcPct val="150000"/>
              </a:lnSpc>
              <a:spcBef>
                <a:spcPts val="0"/>
              </a:spcBef>
              <a:spcAft>
                <a:spcPts val="0"/>
              </a:spcAft>
              <a:buClr>
                <a:schemeClr val="dk1"/>
              </a:buClr>
              <a:buSzPts val="1400"/>
              <a:buAutoNum type="arabicPeriod"/>
            </a:pPr>
            <a:r>
              <a:rPr lang="en" sz="1400">
                <a:solidFill>
                  <a:schemeClr val="dk1"/>
                </a:solidFill>
              </a:rPr>
              <a:t>Challenges faced during data exploration</a:t>
            </a:r>
            <a:endParaRPr sz="1400">
              <a:solidFill>
                <a:schemeClr val="dk1"/>
              </a:solidFill>
            </a:endParaRPr>
          </a:p>
          <a:p>
            <a:pPr marL="457200" lvl="0" indent="-317500" algn="l" rtl="0">
              <a:lnSpc>
                <a:spcPct val="150000"/>
              </a:lnSpc>
              <a:spcBef>
                <a:spcPts val="0"/>
              </a:spcBef>
              <a:spcAft>
                <a:spcPts val="0"/>
              </a:spcAft>
              <a:buClr>
                <a:schemeClr val="dk1"/>
              </a:buClr>
              <a:buSzPts val="1400"/>
              <a:buAutoNum type="arabicPeriod"/>
            </a:pPr>
            <a:r>
              <a:rPr lang="en" sz="1400">
                <a:solidFill>
                  <a:schemeClr val="dk1"/>
                </a:solidFill>
              </a:rPr>
              <a:t>Conclusions of our analysis</a:t>
            </a:r>
            <a:endParaRPr sz="1400">
              <a:solidFill>
                <a:schemeClr val="dk1"/>
              </a:solidFill>
            </a:endParaRPr>
          </a:p>
        </p:txBody>
      </p:sp>
      <p:pic>
        <p:nvPicPr>
          <p:cNvPr id="64" name="Google Shape;64;p14"/>
          <p:cNvPicPr preferRelativeResize="0"/>
          <p:nvPr/>
        </p:nvPicPr>
        <p:blipFill>
          <a:blip r:embed="rId3">
            <a:alphaModFix/>
          </a:blip>
          <a:stretch>
            <a:fillRect/>
          </a:stretch>
        </p:blipFill>
        <p:spPr>
          <a:xfrm>
            <a:off x="8361517" y="-8"/>
            <a:ext cx="782475" cy="782475"/>
          </a:xfrm>
          <a:prstGeom prst="rect">
            <a:avLst/>
          </a:prstGeom>
          <a:noFill/>
          <a:ln>
            <a:noFill/>
          </a:ln>
        </p:spPr>
      </p:pic>
      <p:pic>
        <p:nvPicPr>
          <p:cNvPr id="65" name="Google Shape;65;p14"/>
          <p:cNvPicPr preferRelativeResize="0"/>
          <p:nvPr/>
        </p:nvPicPr>
        <p:blipFill>
          <a:blip r:embed="rId4">
            <a:alphaModFix/>
          </a:blip>
          <a:stretch>
            <a:fillRect/>
          </a:stretch>
        </p:blipFill>
        <p:spPr>
          <a:xfrm>
            <a:off x="6858000" y="3429000"/>
            <a:ext cx="2286000" cy="1714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fade">
                                      <p:cBhvr>
                                        <p:cTn id="7" dur="10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5"/>
          <p:cNvSpPr txBox="1">
            <a:spLocks noGrp="1"/>
          </p:cNvSpPr>
          <p:nvPr>
            <p:ph type="title"/>
          </p:nvPr>
        </p:nvSpPr>
        <p:spPr>
          <a:xfrm>
            <a:off x="0" y="0"/>
            <a:ext cx="84624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Problem Statements:</a:t>
            </a:r>
            <a:endParaRPr b="1" u="sng"/>
          </a:p>
        </p:txBody>
      </p:sp>
      <p:sp>
        <p:nvSpPr>
          <p:cNvPr id="71" name="Google Shape;71;p15"/>
          <p:cNvSpPr txBox="1">
            <a:spLocks noGrp="1"/>
          </p:cNvSpPr>
          <p:nvPr>
            <p:ph type="body" idx="1"/>
          </p:nvPr>
        </p:nvSpPr>
        <p:spPr>
          <a:xfrm>
            <a:off x="0" y="1037675"/>
            <a:ext cx="9144000" cy="3574500"/>
          </a:xfrm>
          <a:prstGeom prst="rect">
            <a:avLst/>
          </a:prstGeom>
        </p:spPr>
        <p:txBody>
          <a:bodyPr spcFirstLastPara="1" wrap="square" lIns="91425" tIns="91425" rIns="91425" bIns="91425" anchor="t" anchorCtr="0">
            <a:normAutofit/>
          </a:bodyPr>
          <a:lstStyle/>
          <a:p>
            <a:pPr marL="457200" lvl="0" indent="-317500" algn="l" rtl="0">
              <a:lnSpc>
                <a:spcPct val="150000"/>
              </a:lnSpc>
              <a:spcBef>
                <a:spcPts val="0"/>
              </a:spcBef>
              <a:spcAft>
                <a:spcPts val="0"/>
              </a:spcAft>
              <a:buClr>
                <a:schemeClr val="dk1"/>
              </a:buClr>
              <a:buSzPts val="1400"/>
              <a:buChar char="●"/>
            </a:pPr>
            <a:r>
              <a:rPr lang="en" sz="1400">
                <a:solidFill>
                  <a:schemeClr val="dk1"/>
                </a:solidFill>
              </a:rPr>
              <a:t>In this project, we are analyzing the data of Hotel Bookings which contain different types of hotels data like City hotel and Resort Hotel and there are lots of information included like when will the hotel be booked, cancellation of hotel booking, date of booking, types of customers, length of stay, number of available parking spaces etc. </a:t>
            </a:r>
            <a:endParaRPr sz="1400">
              <a:solidFill>
                <a:schemeClr val="dk1"/>
              </a:solidFill>
            </a:endParaRPr>
          </a:p>
          <a:p>
            <a:pPr marL="457200" lvl="0" indent="-317500" algn="l" rtl="0">
              <a:lnSpc>
                <a:spcPct val="150000"/>
              </a:lnSpc>
              <a:spcBef>
                <a:spcPts val="0"/>
              </a:spcBef>
              <a:spcAft>
                <a:spcPts val="0"/>
              </a:spcAft>
              <a:buClr>
                <a:schemeClr val="dk1"/>
              </a:buClr>
              <a:buSzPts val="1400"/>
              <a:buChar char="●"/>
            </a:pPr>
            <a:r>
              <a:rPr lang="en" sz="1400">
                <a:solidFill>
                  <a:schemeClr val="dk1"/>
                </a:solidFill>
              </a:rPr>
              <a:t>In the type of Hotel Industry, so many factors help in the growth of the hotel business, which is also volatile.</a:t>
            </a:r>
            <a:endParaRPr sz="1400">
              <a:solidFill>
                <a:schemeClr val="dk1"/>
              </a:solidFill>
            </a:endParaRPr>
          </a:p>
          <a:p>
            <a:pPr marL="457200" lvl="0" indent="-317500" algn="l" rtl="0">
              <a:lnSpc>
                <a:spcPct val="150000"/>
              </a:lnSpc>
              <a:spcBef>
                <a:spcPts val="0"/>
              </a:spcBef>
              <a:spcAft>
                <a:spcPts val="0"/>
              </a:spcAft>
              <a:buClr>
                <a:schemeClr val="dk1"/>
              </a:buClr>
              <a:buSzPts val="1400"/>
              <a:buChar char="●"/>
            </a:pPr>
            <a:r>
              <a:rPr lang="en" sz="1400">
                <a:solidFill>
                  <a:schemeClr val="dk1"/>
                </a:solidFill>
              </a:rPr>
              <a:t>The main objective behind this project is to explore and analyze data to discover important factors that govern the bookings and give insights to hotel management which can perform various campaigns to boost the business and performance.</a:t>
            </a:r>
            <a:endParaRPr sz="1400">
              <a:solidFill>
                <a:schemeClr val="dk1"/>
              </a:solidFill>
            </a:endParaRPr>
          </a:p>
          <a:p>
            <a:pPr marL="0" lvl="0" indent="0" algn="l" rtl="0">
              <a:lnSpc>
                <a:spcPct val="150000"/>
              </a:lnSpc>
              <a:spcBef>
                <a:spcPts val="1200"/>
              </a:spcBef>
              <a:spcAft>
                <a:spcPts val="1200"/>
              </a:spcAft>
              <a:buNone/>
            </a:pPr>
            <a:endParaRPr sz="1400">
              <a:solidFill>
                <a:schemeClr val="dk1"/>
              </a:solidFill>
            </a:endParaRPr>
          </a:p>
        </p:txBody>
      </p:sp>
      <p:pic>
        <p:nvPicPr>
          <p:cNvPr id="72" name="Google Shape;72;p15"/>
          <p:cNvPicPr preferRelativeResize="0"/>
          <p:nvPr/>
        </p:nvPicPr>
        <p:blipFill>
          <a:blip r:embed="rId3">
            <a:alphaModFix/>
          </a:blip>
          <a:stretch>
            <a:fillRect/>
          </a:stretch>
        </p:blipFill>
        <p:spPr>
          <a:xfrm>
            <a:off x="8361517" y="-8"/>
            <a:ext cx="782475" cy="782475"/>
          </a:xfrm>
          <a:prstGeom prst="rect">
            <a:avLst/>
          </a:prstGeom>
          <a:noFill/>
          <a:ln>
            <a:noFill/>
          </a:ln>
        </p:spPr>
      </p:pic>
      <p:pic>
        <p:nvPicPr>
          <p:cNvPr id="73" name="Google Shape;73;p15"/>
          <p:cNvPicPr preferRelativeResize="0"/>
          <p:nvPr/>
        </p:nvPicPr>
        <p:blipFill>
          <a:blip r:embed="rId4">
            <a:alphaModFix/>
          </a:blip>
          <a:stretch>
            <a:fillRect/>
          </a:stretch>
        </p:blipFill>
        <p:spPr>
          <a:xfrm>
            <a:off x="8096650" y="4096150"/>
            <a:ext cx="1047349" cy="10473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78" name="Google Shape;78;p16"/>
          <p:cNvPicPr preferRelativeResize="0"/>
          <p:nvPr/>
        </p:nvPicPr>
        <p:blipFill>
          <a:blip r:embed="rId3">
            <a:alphaModFix/>
          </a:blip>
          <a:stretch>
            <a:fillRect/>
          </a:stretch>
        </p:blipFill>
        <p:spPr>
          <a:xfrm>
            <a:off x="8361517" y="-8"/>
            <a:ext cx="782475" cy="782475"/>
          </a:xfrm>
          <a:prstGeom prst="rect">
            <a:avLst/>
          </a:prstGeom>
          <a:noFill/>
          <a:ln>
            <a:noFill/>
          </a:ln>
        </p:spPr>
      </p:pic>
      <p:pic>
        <p:nvPicPr>
          <p:cNvPr id="79" name="Google Shape;79;p16"/>
          <p:cNvPicPr preferRelativeResize="0"/>
          <p:nvPr/>
        </p:nvPicPr>
        <p:blipFill>
          <a:blip r:embed="rId4">
            <a:alphaModFix/>
          </a:blip>
          <a:stretch>
            <a:fillRect/>
          </a:stretch>
        </p:blipFill>
        <p:spPr>
          <a:xfrm>
            <a:off x="265350" y="1091975"/>
            <a:ext cx="8347975" cy="31840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7"/>
          <p:cNvSpPr txBox="1">
            <a:spLocks noGrp="1"/>
          </p:cNvSpPr>
          <p:nvPr>
            <p:ph type="title"/>
          </p:nvPr>
        </p:nvSpPr>
        <p:spPr>
          <a:xfrm>
            <a:off x="25200" y="0"/>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320" b="1"/>
              <a:t>Hotel Booking Analysis and its data?</a:t>
            </a:r>
            <a:endParaRPr sz="2320" b="1"/>
          </a:p>
        </p:txBody>
      </p:sp>
      <p:sp>
        <p:nvSpPr>
          <p:cNvPr id="85" name="Google Shape;85;p17"/>
          <p:cNvSpPr txBox="1">
            <a:spLocks noGrp="1"/>
          </p:cNvSpPr>
          <p:nvPr>
            <p:ph type="body" idx="1"/>
          </p:nvPr>
        </p:nvSpPr>
        <p:spPr>
          <a:xfrm>
            <a:off x="25200" y="572700"/>
            <a:ext cx="9093600" cy="4227000"/>
          </a:xfrm>
          <a:prstGeom prst="rect">
            <a:avLst/>
          </a:prstGeom>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 sz="1400"/>
              <a:t>The purpose of our project was to gather and analyze detailed information about hotels in order to provide insights and estimate the profit.</a:t>
            </a:r>
            <a:endParaRPr sz="1400"/>
          </a:p>
          <a:p>
            <a:pPr marL="457200" lvl="0" indent="-317500" algn="l" rtl="0">
              <a:lnSpc>
                <a:spcPct val="115000"/>
              </a:lnSpc>
              <a:spcBef>
                <a:spcPts val="0"/>
              </a:spcBef>
              <a:spcAft>
                <a:spcPts val="0"/>
              </a:spcAft>
              <a:buSzPts val="1400"/>
              <a:buChar char="●"/>
            </a:pPr>
            <a:r>
              <a:rPr lang="en" sz="1400"/>
              <a:t>The majority of Revenue Management research on demand forecasting and prediction issues is conducted in the tourism and travel-related industries.</a:t>
            </a:r>
            <a:endParaRPr sz="1400"/>
          </a:p>
          <a:p>
            <a:pPr marL="457200" lvl="0" indent="-317500" algn="l" rtl="0">
              <a:lnSpc>
                <a:spcPct val="115000"/>
              </a:lnSpc>
              <a:spcBef>
                <a:spcPts val="0"/>
              </a:spcBef>
              <a:spcAft>
                <a:spcPts val="0"/>
              </a:spcAft>
              <a:buSzPts val="1400"/>
              <a:buChar char="●"/>
            </a:pPr>
            <a:r>
              <a:rPr lang="en" sz="1400"/>
              <a:t>We have given two hotel data sets. i.e., the resort hotel is one of the hotels, and the city hotel is the other. There are 32 columns and 119390 rows.</a:t>
            </a:r>
            <a:endParaRPr sz="1400"/>
          </a:p>
          <a:p>
            <a:pPr marL="457200" lvl="0" indent="-317500" algn="l" rtl="0">
              <a:lnSpc>
                <a:spcPct val="115000"/>
              </a:lnSpc>
              <a:spcBef>
                <a:spcPts val="0"/>
              </a:spcBef>
              <a:spcAft>
                <a:spcPts val="0"/>
              </a:spcAft>
              <a:buSzPts val="1400"/>
              <a:buChar char="●"/>
            </a:pPr>
            <a:r>
              <a:rPr lang="en" sz="1400"/>
              <a:t>With out industry-specific data, it is impossible to completely understand the requirements and peculiarities of the remaining tourism and travel sectors, such as hospitality, cruising, theme parks, etc. To help overcome this restriction, two hotel datasets with demand data are given.</a:t>
            </a:r>
            <a:endParaRPr sz="1400"/>
          </a:p>
          <a:p>
            <a:pPr marL="457200" lvl="0" indent="-317500" algn="l" rtl="0">
              <a:lnSpc>
                <a:spcPct val="115000"/>
              </a:lnSpc>
              <a:spcBef>
                <a:spcPts val="0"/>
              </a:spcBef>
              <a:spcAft>
                <a:spcPts val="0"/>
              </a:spcAft>
              <a:buSzPts val="1400"/>
              <a:buChar char="●"/>
            </a:pPr>
            <a:r>
              <a:rPr lang="en" sz="1400"/>
              <a:t>Hotels will be able to identify the issue that is causing customers to cancel their bookings, as well as the reason for the cancellations, by utilizing the predictive</a:t>
            </a:r>
            <a:endParaRPr sz="1400"/>
          </a:p>
          <a:p>
            <a:pPr marL="457200" lvl="0" indent="-317500" algn="l" rtl="0">
              <a:lnSpc>
                <a:spcPct val="115000"/>
              </a:lnSpc>
              <a:spcBef>
                <a:spcPts val="0"/>
              </a:spcBef>
              <a:spcAft>
                <a:spcPts val="0"/>
              </a:spcAft>
              <a:buSzPts val="1400"/>
              <a:buChar char="●"/>
            </a:pPr>
            <a:r>
              <a:rPr lang="en" sz="1400"/>
              <a:t>It would be fantastic if the hotel management team could identify the root cause and develop a better strategy.</a:t>
            </a:r>
            <a:endParaRPr sz="1400"/>
          </a:p>
          <a:p>
            <a:pPr marL="457200" lvl="0" indent="-317500" algn="l" rtl="0">
              <a:lnSpc>
                <a:spcPct val="115000"/>
              </a:lnSpc>
              <a:spcBef>
                <a:spcPts val="0"/>
              </a:spcBef>
              <a:spcAft>
                <a:spcPts val="0"/>
              </a:spcAft>
              <a:buSzPts val="1400"/>
              <a:buChar char="●"/>
            </a:pPr>
            <a:r>
              <a:rPr lang="en" sz="1400"/>
              <a:t>The goal of our project was to collect and analyze detailed hotel information in order to provide insights and estimate profit.</a:t>
            </a:r>
            <a:endParaRPr sz="1400"/>
          </a:p>
        </p:txBody>
      </p:sp>
      <p:pic>
        <p:nvPicPr>
          <p:cNvPr id="86" name="Google Shape;86;p17"/>
          <p:cNvPicPr preferRelativeResize="0"/>
          <p:nvPr/>
        </p:nvPicPr>
        <p:blipFill>
          <a:blip r:embed="rId3">
            <a:alphaModFix/>
          </a:blip>
          <a:stretch>
            <a:fillRect/>
          </a:stretch>
        </p:blipFill>
        <p:spPr>
          <a:xfrm>
            <a:off x="8361517" y="-8"/>
            <a:ext cx="782475" cy="7824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8"/>
          <p:cNvSpPr txBox="1">
            <a:spLocks noGrp="1"/>
          </p:cNvSpPr>
          <p:nvPr>
            <p:ph type="title"/>
          </p:nvPr>
        </p:nvSpPr>
        <p:spPr>
          <a:xfrm>
            <a:off x="250450" y="142875"/>
            <a:ext cx="8520600" cy="639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500" b="1" u="sng"/>
              <a:t>Data Summary:</a:t>
            </a:r>
            <a:endParaRPr sz="2500" b="1" u="sng"/>
          </a:p>
        </p:txBody>
      </p:sp>
      <p:sp>
        <p:nvSpPr>
          <p:cNvPr id="92" name="Google Shape;92;p18"/>
          <p:cNvSpPr txBox="1">
            <a:spLocks noGrp="1"/>
          </p:cNvSpPr>
          <p:nvPr>
            <p:ph type="body" idx="1"/>
          </p:nvPr>
        </p:nvSpPr>
        <p:spPr>
          <a:xfrm>
            <a:off x="311700" y="887875"/>
            <a:ext cx="8520600" cy="420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t>After collecting data it’s very important to understand your data. So we had hotel booking which has 119390 rows and 32 columns. So, let’s understand the columns.</a:t>
            </a:r>
            <a:endParaRPr sz="1400"/>
          </a:p>
          <a:p>
            <a:pPr marL="0" lvl="0" indent="0" algn="l" rtl="0">
              <a:spcBef>
                <a:spcPts val="1200"/>
              </a:spcBef>
              <a:spcAft>
                <a:spcPts val="0"/>
              </a:spcAft>
              <a:buNone/>
            </a:pPr>
            <a:r>
              <a:rPr lang="en" sz="1400" b="1" u="sng"/>
              <a:t>Data Description:- </a:t>
            </a:r>
            <a:endParaRPr sz="1400" b="1" u="sng"/>
          </a:p>
          <a:p>
            <a:pPr marL="0" lvl="0" indent="0" algn="l" rtl="0">
              <a:spcBef>
                <a:spcPts val="1200"/>
              </a:spcBef>
              <a:spcAft>
                <a:spcPts val="0"/>
              </a:spcAft>
              <a:buClr>
                <a:schemeClr val="dk1"/>
              </a:buClr>
              <a:buSzPts val="1100"/>
              <a:buFont typeface="Arial"/>
              <a:buNone/>
            </a:pPr>
            <a:r>
              <a:rPr lang="en" sz="1400" b="1"/>
              <a:t>Hotel : </a:t>
            </a:r>
            <a:r>
              <a:rPr lang="en" sz="1400"/>
              <a:t>Different type of Hotels.</a:t>
            </a:r>
            <a:endParaRPr sz="1400"/>
          </a:p>
          <a:p>
            <a:pPr marL="0" lvl="0" indent="0" algn="l" rtl="0">
              <a:spcBef>
                <a:spcPts val="1200"/>
              </a:spcBef>
              <a:spcAft>
                <a:spcPts val="0"/>
              </a:spcAft>
              <a:buClr>
                <a:schemeClr val="dk1"/>
              </a:buClr>
              <a:buSzPts val="1100"/>
              <a:buFont typeface="Arial"/>
              <a:buNone/>
            </a:pPr>
            <a:r>
              <a:rPr lang="en" sz="1400" b="1"/>
              <a:t>is_canceled : </a:t>
            </a:r>
            <a:r>
              <a:rPr lang="en" sz="1400"/>
              <a:t>The value indicates whether or not the reservation has been cancelled.</a:t>
            </a:r>
            <a:endParaRPr sz="1400"/>
          </a:p>
          <a:p>
            <a:pPr marL="0" lvl="0" indent="0" algn="l" rtl="0">
              <a:spcBef>
                <a:spcPts val="1200"/>
              </a:spcBef>
              <a:spcAft>
                <a:spcPts val="0"/>
              </a:spcAft>
              <a:buClr>
                <a:schemeClr val="dk1"/>
              </a:buClr>
              <a:buSzPts val="1100"/>
              <a:buFont typeface="Arial"/>
              <a:buNone/>
            </a:pPr>
            <a:r>
              <a:rPr lang="en" sz="1400" b="1"/>
              <a:t>lead_time :</a:t>
            </a:r>
            <a:r>
              <a:rPr lang="en" sz="1400"/>
              <a:t> How far in advance the reservation was made</a:t>
            </a:r>
            <a:endParaRPr sz="1400"/>
          </a:p>
          <a:p>
            <a:pPr marL="0" lvl="0" indent="0" algn="l" rtl="0">
              <a:spcBef>
                <a:spcPts val="1200"/>
              </a:spcBef>
              <a:spcAft>
                <a:spcPts val="0"/>
              </a:spcAft>
              <a:buClr>
                <a:schemeClr val="dk1"/>
              </a:buClr>
              <a:buSzPts val="1100"/>
              <a:buFont typeface="Arial"/>
              <a:buNone/>
            </a:pPr>
            <a:r>
              <a:rPr lang="en" sz="1400" b="1"/>
              <a:t>arrival_date_year : </a:t>
            </a:r>
            <a:r>
              <a:rPr lang="en" sz="1400"/>
              <a:t>Year of customer arrival.</a:t>
            </a:r>
            <a:endParaRPr sz="1400"/>
          </a:p>
          <a:p>
            <a:pPr marL="0" lvl="0" indent="0" algn="l" rtl="0">
              <a:spcBef>
                <a:spcPts val="1200"/>
              </a:spcBef>
              <a:spcAft>
                <a:spcPts val="0"/>
              </a:spcAft>
              <a:buClr>
                <a:schemeClr val="dk1"/>
              </a:buClr>
              <a:buSzPts val="1100"/>
              <a:buFont typeface="Arial"/>
              <a:buNone/>
            </a:pPr>
            <a:r>
              <a:rPr lang="en" sz="1400" b="1"/>
              <a:t>arrival_date_month : </a:t>
            </a:r>
            <a:r>
              <a:rPr lang="en" sz="1400"/>
              <a:t>Which month of the year did the customer visit</a:t>
            </a:r>
            <a:endParaRPr sz="1400"/>
          </a:p>
          <a:p>
            <a:pPr marL="0" lvl="0" indent="0" algn="l" rtl="0">
              <a:spcBef>
                <a:spcPts val="1200"/>
              </a:spcBef>
              <a:spcAft>
                <a:spcPts val="0"/>
              </a:spcAft>
              <a:buClr>
                <a:schemeClr val="dk1"/>
              </a:buClr>
              <a:buSzPts val="1100"/>
              <a:buFont typeface="Arial"/>
              <a:buNone/>
            </a:pPr>
            <a:r>
              <a:rPr lang="en" sz="1400" b="1"/>
              <a:t>arrival_date_week_number:</a:t>
            </a:r>
            <a:r>
              <a:rPr lang="en" sz="1400"/>
              <a:t> Which week of the year</a:t>
            </a:r>
            <a:endParaRPr sz="1400"/>
          </a:p>
          <a:p>
            <a:pPr marL="0" lvl="0" indent="0" algn="l" rtl="0">
              <a:spcBef>
                <a:spcPts val="1200"/>
              </a:spcBef>
              <a:spcAft>
                <a:spcPts val="1200"/>
              </a:spcAft>
              <a:buClr>
                <a:schemeClr val="dk1"/>
              </a:buClr>
              <a:buSzPts val="1100"/>
              <a:buFont typeface="Arial"/>
              <a:buNone/>
            </a:pPr>
            <a:r>
              <a:rPr lang="en" sz="1400" b="1"/>
              <a:t>arrival_date_day_of_month :</a:t>
            </a:r>
            <a:r>
              <a:rPr lang="en" sz="1400"/>
              <a:t>The month in which the customer visited the hotel.</a:t>
            </a:r>
            <a:endParaRPr sz="1400" u="sng"/>
          </a:p>
        </p:txBody>
      </p:sp>
      <p:pic>
        <p:nvPicPr>
          <p:cNvPr id="93" name="Google Shape;93;p18"/>
          <p:cNvPicPr preferRelativeResize="0"/>
          <p:nvPr/>
        </p:nvPicPr>
        <p:blipFill>
          <a:blip r:embed="rId3">
            <a:alphaModFix/>
          </a:blip>
          <a:stretch>
            <a:fillRect/>
          </a:stretch>
        </p:blipFill>
        <p:spPr>
          <a:xfrm>
            <a:off x="8361517" y="-8"/>
            <a:ext cx="782475" cy="7824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9"/>
          <p:cNvSpPr txBox="1">
            <a:spLocks noGrp="1"/>
          </p:cNvSpPr>
          <p:nvPr>
            <p:ph type="body" idx="1"/>
          </p:nvPr>
        </p:nvSpPr>
        <p:spPr>
          <a:xfrm>
            <a:off x="0" y="0"/>
            <a:ext cx="9144000" cy="50814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400" b="1"/>
              <a:t>stays_in_weekend_nights :</a:t>
            </a:r>
            <a:r>
              <a:rPr lang="en" sz="1400"/>
              <a:t> Customer stayed or booked to stay in hotel during weekend nights.</a:t>
            </a:r>
            <a:endParaRPr sz="1400"/>
          </a:p>
          <a:p>
            <a:pPr marL="0" lvl="0" indent="0" algn="l" rtl="0">
              <a:lnSpc>
                <a:spcPct val="115000"/>
              </a:lnSpc>
              <a:spcBef>
                <a:spcPts val="0"/>
              </a:spcBef>
              <a:spcAft>
                <a:spcPts val="0"/>
              </a:spcAft>
              <a:buClr>
                <a:schemeClr val="dk1"/>
              </a:buClr>
              <a:buSzPts val="1100"/>
              <a:buFont typeface="Arial"/>
              <a:buNone/>
            </a:pPr>
            <a:r>
              <a:rPr lang="en" sz="1400" b="1"/>
              <a:t>stays_in_week_nights :</a:t>
            </a:r>
            <a:r>
              <a:rPr lang="en" sz="1400"/>
              <a:t> The customer stayed or planned to stay in a hotel on a weekend night.</a:t>
            </a:r>
            <a:endParaRPr sz="1400"/>
          </a:p>
          <a:p>
            <a:pPr marL="0" lvl="0" indent="0" algn="l" rtl="0">
              <a:lnSpc>
                <a:spcPct val="115000"/>
              </a:lnSpc>
              <a:spcBef>
                <a:spcPts val="0"/>
              </a:spcBef>
              <a:spcAft>
                <a:spcPts val="0"/>
              </a:spcAft>
              <a:buClr>
                <a:schemeClr val="dk1"/>
              </a:buClr>
              <a:buSzPts val="1100"/>
              <a:buFont typeface="Arial"/>
              <a:buNone/>
            </a:pPr>
            <a:r>
              <a:rPr lang="en" sz="1400" b="1"/>
              <a:t>adults :</a:t>
            </a:r>
            <a:r>
              <a:rPr lang="en" sz="1400"/>
              <a:t> Number of adults</a:t>
            </a:r>
            <a:endParaRPr sz="1400"/>
          </a:p>
          <a:p>
            <a:pPr marL="0" lvl="0" indent="0" algn="l" rtl="0">
              <a:lnSpc>
                <a:spcPct val="115000"/>
              </a:lnSpc>
              <a:spcBef>
                <a:spcPts val="0"/>
              </a:spcBef>
              <a:spcAft>
                <a:spcPts val="0"/>
              </a:spcAft>
              <a:buClr>
                <a:schemeClr val="dk1"/>
              </a:buClr>
              <a:buSzPts val="1100"/>
              <a:buFont typeface="Arial"/>
              <a:buNone/>
            </a:pPr>
            <a:r>
              <a:rPr lang="en" sz="1400" b="1"/>
              <a:t>children :</a:t>
            </a:r>
            <a:r>
              <a:rPr lang="en" sz="1400"/>
              <a:t> number of children.</a:t>
            </a:r>
            <a:endParaRPr sz="1400"/>
          </a:p>
          <a:p>
            <a:pPr marL="0" lvl="0" indent="0" algn="l" rtl="0">
              <a:lnSpc>
                <a:spcPct val="115000"/>
              </a:lnSpc>
              <a:spcBef>
                <a:spcPts val="0"/>
              </a:spcBef>
              <a:spcAft>
                <a:spcPts val="0"/>
              </a:spcAft>
              <a:buClr>
                <a:schemeClr val="dk1"/>
              </a:buClr>
              <a:buSzPts val="1100"/>
              <a:buFont typeface="Arial"/>
              <a:buNone/>
            </a:pPr>
            <a:r>
              <a:rPr lang="en" sz="1400" b="1"/>
              <a:t>babies :</a:t>
            </a:r>
            <a:r>
              <a:rPr lang="en" sz="1400"/>
              <a:t> Number of babies.</a:t>
            </a:r>
            <a:endParaRPr sz="1400"/>
          </a:p>
          <a:p>
            <a:pPr marL="0" lvl="0" indent="0" algn="l" rtl="0">
              <a:lnSpc>
                <a:spcPct val="115000"/>
              </a:lnSpc>
              <a:spcBef>
                <a:spcPts val="0"/>
              </a:spcBef>
              <a:spcAft>
                <a:spcPts val="0"/>
              </a:spcAft>
              <a:buClr>
                <a:schemeClr val="dk1"/>
              </a:buClr>
              <a:buSzPts val="1100"/>
              <a:buFont typeface="Arial"/>
              <a:buNone/>
            </a:pPr>
            <a:r>
              <a:rPr lang="en" sz="1400" b="1"/>
              <a:t>meal : </a:t>
            </a:r>
            <a:r>
              <a:rPr lang="en" sz="1400"/>
              <a:t>Type of meal booked.:</a:t>
            </a:r>
            <a:endParaRPr sz="1400"/>
          </a:p>
          <a:p>
            <a:pPr marL="0" lvl="0" indent="0" algn="l" rtl="0">
              <a:lnSpc>
                <a:spcPct val="115000"/>
              </a:lnSpc>
              <a:spcBef>
                <a:spcPts val="0"/>
              </a:spcBef>
              <a:spcAft>
                <a:spcPts val="0"/>
              </a:spcAft>
              <a:buClr>
                <a:schemeClr val="dk1"/>
              </a:buClr>
              <a:buSzPts val="1100"/>
              <a:buFont typeface="Arial"/>
              <a:buNone/>
            </a:pPr>
            <a:r>
              <a:rPr lang="en" sz="1400" b="1"/>
              <a:t>country :</a:t>
            </a:r>
            <a:r>
              <a:rPr lang="en" sz="1400"/>
              <a:t> Country of origin of customer.</a:t>
            </a:r>
            <a:endParaRPr sz="1400"/>
          </a:p>
          <a:p>
            <a:pPr marL="0" lvl="0" indent="0" algn="l" rtl="0">
              <a:lnSpc>
                <a:spcPct val="115000"/>
              </a:lnSpc>
              <a:spcBef>
                <a:spcPts val="0"/>
              </a:spcBef>
              <a:spcAft>
                <a:spcPts val="0"/>
              </a:spcAft>
              <a:buClr>
                <a:schemeClr val="dk1"/>
              </a:buClr>
              <a:buSzPts val="1100"/>
              <a:buFont typeface="Arial"/>
              <a:buNone/>
            </a:pPr>
            <a:r>
              <a:rPr lang="en" sz="1400" b="1"/>
              <a:t>market_segment : </a:t>
            </a:r>
            <a:r>
              <a:rPr lang="en" sz="1400"/>
              <a:t>where the bookings came from.</a:t>
            </a:r>
            <a:endParaRPr sz="1400"/>
          </a:p>
          <a:p>
            <a:pPr marL="0" lvl="0" indent="0" algn="l" rtl="0">
              <a:lnSpc>
                <a:spcPct val="115000"/>
              </a:lnSpc>
              <a:spcBef>
                <a:spcPts val="0"/>
              </a:spcBef>
              <a:spcAft>
                <a:spcPts val="0"/>
              </a:spcAft>
              <a:buClr>
                <a:schemeClr val="dk1"/>
              </a:buClr>
              <a:buSzPts val="1100"/>
              <a:buFont typeface="Arial"/>
              <a:buNone/>
            </a:pPr>
            <a:r>
              <a:rPr lang="en" sz="1400" b="1"/>
              <a:t>distribution_channel :</a:t>
            </a:r>
            <a:r>
              <a:rPr lang="en" sz="1400"/>
              <a:t> Booking distribution channel. The term “TA” means “Travel Agents” and “TO” means “Tour Operators” .</a:t>
            </a:r>
            <a:endParaRPr sz="1400"/>
          </a:p>
          <a:p>
            <a:pPr marL="0" lvl="0" indent="0" algn="l" rtl="0">
              <a:lnSpc>
                <a:spcPct val="115000"/>
              </a:lnSpc>
              <a:spcBef>
                <a:spcPts val="0"/>
              </a:spcBef>
              <a:spcAft>
                <a:spcPts val="0"/>
              </a:spcAft>
              <a:buClr>
                <a:schemeClr val="dk1"/>
              </a:buClr>
              <a:buSzPts val="1100"/>
              <a:buFont typeface="Arial"/>
              <a:buNone/>
            </a:pPr>
            <a:r>
              <a:rPr lang="en" sz="1400" b="1"/>
              <a:t>is_repeated_guest : </a:t>
            </a:r>
            <a:r>
              <a:rPr lang="en" sz="1400"/>
              <a:t>Value indicating if the booking name was from a repeated guest (1) or not (0).</a:t>
            </a:r>
            <a:endParaRPr sz="1400"/>
          </a:p>
          <a:p>
            <a:pPr marL="0" lvl="0" indent="0" algn="l" rtl="0">
              <a:lnSpc>
                <a:spcPct val="115000"/>
              </a:lnSpc>
              <a:spcBef>
                <a:spcPts val="0"/>
              </a:spcBef>
              <a:spcAft>
                <a:spcPts val="0"/>
              </a:spcAft>
              <a:buClr>
                <a:schemeClr val="dk1"/>
              </a:buClr>
              <a:buSzPts val="1100"/>
              <a:buFont typeface="Arial"/>
              <a:buNone/>
            </a:pPr>
            <a:r>
              <a:rPr lang="en" sz="1400" b="1"/>
              <a:t>previous_cancellations : </a:t>
            </a:r>
            <a:r>
              <a:rPr lang="en" sz="1400"/>
              <a:t>The number of previous bookings that the customer cancelled prior to the current booking.</a:t>
            </a:r>
            <a:endParaRPr sz="1400"/>
          </a:p>
          <a:p>
            <a:pPr marL="0" lvl="0" indent="0" algn="l" rtl="0">
              <a:lnSpc>
                <a:spcPct val="115000"/>
              </a:lnSpc>
              <a:spcBef>
                <a:spcPts val="0"/>
              </a:spcBef>
              <a:spcAft>
                <a:spcPts val="0"/>
              </a:spcAft>
              <a:buClr>
                <a:schemeClr val="dk1"/>
              </a:buClr>
              <a:buSzPts val="1100"/>
              <a:buFont typeface="Arial"/>
              <a:buNone/>
            </a:pPr>
            <a:r>
              <a:rPr lang="en" sz="1400" b="1"/>
              <a:t>previous_bookings_not_canceled : </a:t>
            </a:r>
            <a:r>
              <a:rPr lang="en" sz="1400"/>
              <a:t>Number of previous bookings that were cancelled by the customer prior to the current booking.</a:t>
            </a:r>
            <a:endParaRPr sz="1400"/>
          </a:p>
          <a:p>
            <a:pPr marL="0" lvl="0" indent="0" algn="l" rtl="0">
              <a:lnSpc>
                <a:spcPct val="115000"/>
              </a:lnSpc>
              <a:spcBef>
                <a:spcPts val="0"/>
              </a:spcBef>
              <a:spcAft>
                <a:spcPts val="0"/>
              </a:spcAft>
              <a:buClr>
                <a:schemeClr val="dk1"/>
              </a:buClr>
              <a:buSzPts val="1100"/>
              <a:buFont typeface="Arial"/>
              <a:buNone/>
            </a:pPr>
            <a:r>
              <a:rPr lang="en" sz="1400" b="1"/>
              <a:t>reserved_room_type :</a:t>
            </a:r>
            <a:r>
              <a:rPr lang="en" sz="1400"/>
              <a:t> The number of previous bookings cancelled by the customer prior to the current booking.</a:t>
            </a:r>
            <a:endParaRPr sz="1400"/>
          </a:p>
          <a:p>
            <a:pPr marL="0" lvl="0" indent="0" algn="l" rtl="0">
              <a:lnSpc>
                <a:spcPct val="115000"/>
              </a:lnSpc>
              <a:spcBef>
                <a:spcPts val="0"/>
              </a:spcBef>
              <a:spcAft>
                <a:spcPts val="0"/>
              </a:spcAft>
              <a:buClr>
                <a:schemeClr val="dk1"/>
              </a:buClr>
              <a:buSzPts val="1100"/>
              <a:buFont typeface="Arial"/>
              <a:buNone/>
            </a:pPr>
            <a:r>
              <a:rPr lang="en" sz="1400" b="1"/>
              <a:t>assigned_room_type : </a:t>
            </a:r>
            <a:r>
              <a:rPr lang="en" sz="1400"/>
              <a:t>The code for the room type assigned to the booking. Because of this, the assigned room type may differ from the reserved room type.</a:t>
            </a:r>
            <a:endParaRPr sz="1400"/>
          </a:p>
          <a:p>
            <a:pPr marL="0" lvl="0" indent="0" algn="l" rtl="0">
              <a:lnSpc>
                <a:spcPct val="115000"/>
              </a:lnSpc>
              <a:spcBef>
                <a:spcPts val="0"/>
              </a:spcBef>
              <a:spcAft>
                <a:spcPts val="0"/>
              </a:spcAft>
              <a:buClr>
                <a:schemeClr val="dk1"/>
              </a:buClr>
              <a:buSzPts val="1100"/>
              <a:buFont typeface="Arial"/>
              <a:buNone/>
            </a:pPr>
            <a:r>
              <a:rPr lang="en" sz="1400" b="1"/>
              <a:t>*booking_changes *:</a:t>
            </a:r>
            <a:r>
              <a:rPr lang="en" sz="1400"/>
              <a:t> Number of changes/amendments made to the booking from the moment the booking was entered on the PMS.</a:t>
            </a:r>
            <a:endParaRPr sz="1400"/>
          </a:p>
          <a:p>
            <a:pPr marL="0" lvl="0" indent="0" algn="l" rtl="0">
              <a:lnSpc>
                <a:spcPct val="115000"/>
              </a:lnSpc>
              <a:spcBef>
                <a:spcPts val="0"/>
              </a:spcBef>
              <a:spcAft>
                <a:spcPts val="0"/>
              </a:spcAft>
              <a:buNone/>
            </a:pPr>
            <a:endParaRPr sz="1400"/>
          </a:p>
        </p:txBody>
      </p:sp>
      <p:pic>
        <p:nvPicPr>
          <p:cNvPr id="99" name="Google Shape;99;p19"/>
          <p:cNvPicPr preferRelativeResize="0"/>
          <p:nvPr/>
        </p:nvPicPr>
        <p:blipFill>
          <a:blip r:embed="rId3">
            <a:alphaModFix/>
          </a:blip>
          <a:stretch>
            <a:fillRect/>
          </a:stretch>
        </p:blipFill>
        <p:spPr>
          <a:xfrm>
            <a:off x="8361517" y="-8"/>
            <a:ext cx="782475" cy="7824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0"/>
          <p:cNvSpPr txBox="1">
            <a:spLocks noGrp="1"/>
          </p:cNvSpPr>
          <p:nvPr>
            <p:ph type="body" idx="1"/>
          </p:nvPr>
        </p:nvSpPr>
        <p:spPr>
          <a:xfrm>
            <a:off x="0" y="0"/>
            <a:ext cx="9144000" cy="50691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n" sz="1400" b="1"/>
              <a:t>deposit_type :</a:t>
            </a:r>
            <a:r>
              <a:rPr lang="en" sz="1400"/>
              <a:t> Indicates whether or not the customer paid a deposit to secure the reservation.</a:t>
            </a:r>
            <a:endParaRPr sz="1400"/>
          </a:p>
          <a:p>
            <a:pPr marL="0" lvl="0" indent="0" algn="l" rtl="0">
              <a:lnSpc>
                <a:spcPct val="150000"/>
              </a:lnSpc>
              <a:spcBef>
                <a:spcPts val="0"/>
              </a:spcBef>
              <a:spcAft>
                <a:spcPts val="0"/>
              </a:spcAft>
              <a:buClr>
                <a:schemeClr val="dk1"/>
              </a:buClr>
              <a:buSzPts val="1100"/>
              <a:buFont typeface="Arial"/>
              <a:buNone/>
            </a:pPr>
            <a:r>
              <a:rPr lang="en" sz="1400" b="1"/>
              <a:t>agent : </a:t>
            </a:r>
            <a:r>
              <a:rPr lang="en" sz="1400"/>
              <a:t>The ID of the travel agency that made the reservation.</a:t>
            </a:r>
            <a:endParaRPr sz="1400"/>
          </a:p>
          <a:p>
            <a:pPr marL="0" lvl="0" indent="0" algn="l" rtl="0">
              <a:lnSpc>
                <a:spcPct val="150000"/>
              </a:lnSpc>
              <a:spcBef>
                <a:spcPts val="0"/>
              </a:spcBef>
              <a:spcAft>
                <a:spcPts val="0"/>
              </a:spcAft>
              <a:buClr>
                <a:schemeClr val="dk1"/>
              </a:buClr>
              <a:buSzPts val="1100"/>
              <a:buFont typeface="Arial"/>
              <a:buNone/>
            </a:pPr>
            <a:r>
              <a:rPr lang="en" sz="1400" b="1"/>
              <a:t>company :</a:t>
            </a:r>
            <a:r>
              <a:rPr lang="en" sz="1400"/>
              <a:t> ID of the company/entity that made the reservation or is responsible for paying the reservation.</a:t>
            </a:r>
            <a:endParaRPr sz="1400"/>
          </a:p>
          <a:p>
            <a:pPr marL="0" lvl="0" indent="0" algn="l" rtl="0">
              <a:lnSpc>
                <a:spcPct val="150000"/>
              </a:lnSpc>
              <a:spcBef>
                <a:spcPts val="0"/>
              </a:spcBef>
              <a:spcAft>
                <a:spcPts val="0"/>
              </a:spcAft>
              <a:buClr>
                <a:schemeClr val="dk1"/>
              </a:buClr>
              <a:buSzPts val="1100"/>
              <a:buFont typeface="Arial"/>
              <a:buNone/>
            </a:pPr>
            <a:r>
              <a:rPr lang="en" sz="1400" b="1"/>
              <a:t>days_in_waiting_list : </a:t>
            </a:r>
            <a:r>
              <a:rPr lang="en" sz="1400"/>
              <a:t>The number of days the reservation was on the waiting list before being confirmed to the customer.</a:t>
            </a:r>
            <a:endParaRPr sz="1400"/>
          </a:p>
          <a:p>
            <a:pPr marL="0" lvl="0" indent="0" algn="l" rtl="0">
              <a:lnSpc>
                <a:spcPct val="150000"/>
              </a:lnSpc>
              <a:spcBef>
                <a:spcPts val="0"/>
              </a:spcBef>
              <a:spcAft>
                <a:spcPts val="0"/>
              </a:spcAft>
              <a:buClr>
                <a:schemeClr val="dk1"/>
              </a:buClr>
              <a:buSzPts val="1100"/>
              <a:buFont typeface="Arial"/>
              <a:buNone/>
            </a:pPr>
            <a:r>
              <a:rPr lang="en" sz="1400" b="1"/>
              <a:t>customer_type : </a:t>
            </a:r>
            <a:r>
              <a:rPr lang="en" sz="1400"/>
              <a:t>Booking type, assuming one of four categories.</a:t>
            </a:r>
            <a:endParaRPr sz="1400"/>
          </a:p>
          <a:p>
            <a:pPr marL="0" lvl="0" indent="0" algn="l" rtl="0">
              <a:lnSpc>
                <a:spcPct val="150000"/>
              </a:lnSpc>
              <a:spcBef>
                <a:spcPts val="0"/>
              </a:spcBef>
              <a:spcAft>
                <a:spcPts val="0"/>
              </a:spcAft>
              <a:buClr>
                <a:schemeClr val="dk1"/>
              </a:buClr>
              <a:buSzPts val="1100"/>
              <a:buFont typeface="Arial"/>
              <a:buNone/>
            </a:pPr>
            <a:r>
              <a:rPr lang="en" sz="1400" b="1"/>
              <a:t>*adr *: </a:t>
            </a:r>
            <a:r>
              <a:rPr lang="en" sz="1400"/>
              <a:t>The average daily rate is calculated by dividing the total number of staying nights by the sum of all lodging transactions.</a:t>
            </a:r>
            <a:endParaRPr sz="1400"/>
          </a:p>
          <a:p>
            <a:pPr marL="0" lvl="0" indent="0" algn="l" rtl="0">
              <a:lnSpc>
                <a:spcPct val="150000"/>
              </a:lnSpc>
              <a:spcBef>
                <a:spcPts val="0"/>
              </a:spcBef>
              <a:spcAft>
                <a:spcPts val="0"/>
              </a:spcAft>
              <a:buClr>
                <a:schemeClr val="dk1"/>
              </a:buClr>
              <a:buSzPts val="1100"/>
              <a:buFont typeface="Arial"/>
              <a:buNone/>
            </a:pPr>
            <a:r>
              <a:rPr lang="en" sz="1400" b="1"/>
              <a:t>required_car_parking_spaces :</a:t>
            </a:r>
            <a:r>
              <a:rPr lang="en" sz="1400"/>
              <a:t> The number of parking spaces needed by the customer.</a:t>
            </a:r>
            <a:endParaRPr sz="1400"/>
          </a:p>
          <a:p>
            <a:pPr marL="0" lvl="0" indent="0" algn="l" rtl="0">
              <a:lnSpc>
                <a:spcPct val="150000"/>
              </a:lnSpc>
              <a:spcBef>
                <a:spcPts val="0"/>
              </a:spcBef>
              <a:spcAft>
                <a:spcPts val="0"/>
              </a:spcAft>
              <a:buClr>
                <a:schemeClr val="dk1"/>
              </a:buClr>
              <a:buSzPts val="1100"/>
              <a:buFont typeface="Arial"/>
              <a:buNone/>
            </a:pPr>
            <a:r>
              <a:rPr lang="en" sz="1400" b="1"/>
              <a:t>*total_of_special_requests *: </a:t>
            </a:r>
            <a:r>
              <a:rPr lang="en" sz="1400"/>
              <a:t>The number of customer special requests (e.g. twin bed or high floor).</a:t>
            </a:r>
            <a:endParaRPr sz="1400"/>
          </a:p>
          <a:p>
            <a:pPr marL="0" lvl="0" indent="0" algn="l" rtl="0">
              <a:lnSpc>
                <a:spcPct val="150000"/>
              </a:lnSpc>
              <a:spcBef>
                <a:spcPts val="0"/>
              </a:spcBef>
              <a:spcAft>
                <a:spcPts val="0"/>
              </a:spcAft>
              <a:buClr>
                <a:schemeClr val="dk1"/>
              </a:buClr>
              <a:buSzPts val="1100"/>
              <a:buFont typeface="Arial"/>
              <a:buNone/>
            </a:pPr>
            <a:r>
              <a:rPr lang="en" sz="1400" b="1"/>
              <a:t>reservation_status :</a:t>
            </a:r>
            <a:r>
              <a:rPr lang="en" sz="1400"/>
              <a:t> Last reservation status in one of three categories: Canceled - the customer cancelled the reservation; Check-out: the customer checked out of the hotel. No show: the customer did not check in to the hotel and informed the hotel of the reason.</a:t>
            </a:r>
            <a:endParaRPr sz="1400"/>
          </a:p>
          <a:p>
            <a:pPr marL="0" lvl="0" indent="0" algn="l" rtl="0">
              <a:lnSpc>
                <a:spcPct val="150000"/>
              </a:lnSpc>
              <a:spcBef>
                <a:spcPts val="0"/>
              </a:spcBef>
              <a:spcAft>
                <a:spcPts val="0"/>
              </a:spcAft>
              <a:buClr>
                <a:schemeClr val="dk1"/>
              </a:buClr>
              <a:buSzPts val="1100"/>
              <a:buFont typeface="Arial"/>
              <a:buNone/>
            </a:pPr>
            <a:r>
              <a:rPr lang="en" sz="1400" b="1"/>
              <a:t>reservation_status_date :</a:t>
            </a:r>
            <a:r>
              <a:rPr lang="en" sz="1400"/>
              <a:t> The date on which the most recent status was set. This variable, in conjunction with the Reservation Status, can be used to determine when the booking was cancelled or when the customer checked out of the hotel.</a:t>
            </a:r>
            <a:endParaRPr sz="1400"/>
          </a:p>
          <a:p>
            <a:pPr marL="0" lvl="0" indent="0" algn="l" rtl="0">
              <a:lnSpc>
                <a:spcPct val="150000"/>
              </a:lnSpc>
              <a:spcBef>
                <a:spcPts val="0"/>
              </a:spcBef>
              <a:spcAft>
                <a:spcPts val="0"/>
              </a:spcAft>
              <a:buNone/>
            </a:pPr>
            <a:endParaRPr sz="1400"/>
          </a:p>
        </p:txBody>
      </p:sp>
      <p:pic>
        <p:nvPicPr>
          <p:cNvPr id="105" name="Google Shape;105;p20"/>
          <p:cNvPicPr preferRelativeResize="0"/>
          <p:nvPr/>
        </p:nvPicPr>
        <p:blipFill>
          <a:blip r:embed="rId3">
            <a:alphaModFix/>
          </a:blip>
          <a:stretch>
            <a:fillRect/>
          </a:stretch>
        </p:blipFill>
        <p:spPr>
          <a:xfrm>
            <a:off x="8361517" y="-8"/>
            <a:ext cx="782475" cy="7824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1"/>
          <p:cNvSpPr txBox="1">
            <a:spLocks noGrp="1"/>
          </p:cNvSpPr>
          <p:nvPr>
            <p:ph type="title"/>
          </p:nvPr>
        </p:nvSpPr>
        <p:spPr>
          <a:xfrm>
            <a:off x="370675" y="2097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Flowchart and EDA Analysis:</a:t>
            </a:r>
            <a:endParaRPr b="1" u="sng"/>
          </a:p>
        </p:txBody>
      </p:sp>
      <p:pic>
        <p:nvPicPr>
          <p:cNvPr id="111" name="Google Shape;111;p21"/>
          <p:cNvPicPr preferRelativeResize="0"/>
          <p:nvPr/>
        </p:nvPicPr>
        <p:blipFill>
          <a:blip r:embed="rId3">
            <a:alphaModFix/>
          </a:blip>
          <a:stretch>
            <a:fillRect/>
          </a:stretch>
        </p:blipFill>
        <p:spPr>
          <a:xfrm>
            <a:off x="8361517" y="-8"/>
            <a:ext cx="782475" cy="782475"/>
          </a:xfrm>
          <a:prstGeom prst="rect">
            <a:avLst/>
          </a:prstGeom>
          <a:noFill/>
          <a:ln>
            <a:noFill/>
          </a:ln>
        </p:spPr>
      </p:pic>
      <p:pic>
        <p:nvPicPr>
          <p:cNvPr id="112" name="Google Shape;112;p21"/>
          <p:cNvPicPr preferRelativeResize="0"/>
          <p:nvPr/>
        </p:nvPicPr>
        <p:blipFill>
          <a:blip r:embed="rId4">
            <a:alphaModFix/>
          </a:blip>
          <a:stretch>
            <a:fillRect/>
          </a:stretch>
        </p:blipFill>
        <p:spPr>
          <a:xfrm>
            <a:off x="1327400" y="1510400"/>
            <a:ext cx="6193950" cy="2816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2"/>
          <p:cNvSpPr txBox="1">
            <a:spLocks noGrp="1"/>
          </p:cNvSpPr>
          <p:nvPr>
            <p:ph type="title"/>
          </p:nvPr>
        </p:nvSpPr>
        <p:spPr>
          <a:xfrm>
            <a:off x="311700" y="2097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Cleaning of Data and Manipulation:</a:t>
            </a:r>
            <a:endParaRPr b="1" u="sng"/>
          </a:p>
        </p:txBody>
      </p:sp>
      <p:pic>
        <p:nvPicPr>
          <p:cNvPr id="118" name="Google Shape;118;p22"/>
          <p:cNvPicPr preferRelativeResize="0"/>
          <p:nvPr/>
        </p:nvPicPr>
        <p:blipFill>
          <a:blip r:embed="rId3">
            <a:alphaModFix/>
          </a:blip>
          <a:stretch>
            <a:fillRect/>
          </a:stretch>
        </p:blipFill>
        <p:spPr>
          <a:xfrm>
            <a:off x="8361517" y="-8"/>
            <a:ext cx="782475" cy="782475"/>
          </a:xfrm>
          <a:prstGeom prst="rect">
            <a:avLst/>
          </a:prstGeom>
          <a:noFill/>
          <a:ln>
            <a:noFill/>
          </a:ln>
        </p:spPr>
      </p:pic>
      <p:pic>
        <p:nvPicPr>
          <p:cNvPr id="119" name="Google Shape;119;p22"/>
          <p:cNvPicPr preferRelativeResize="0"/>
          <p:nvPr/>
        </p:nvPicPr>
        <p:blipFill>
          <a:blip r:embed="rId4">
            <a:alphaModFix/>
          </a:blip>
          <a:stretch>
            <a:fillRect/>
          </a:stretch>
        </p:blipFill>
        <p:spPr>
          <a:xfrm>
            <a:off x="1632850" y="857250"/>
            <a:ext cx="5500700" cy="38882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3"/>
          <p:cNvSpPr txBox="1">
            <a:spLocks noGrp="1"/>
          </p:cNvSpPr>
          <p:nvPr>
            <p:ph type="title"/>
          </p:nvPr>
        </p:nvSpPr>
        <p:spPr>
          <a:xfrm>
            <a:off x="270875" y="2097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Removing of Duplicate values</a:t>
            </a:r>
            <a:endParaRPr b="1" u="sng"/>
          </a:p>
        </p:txBody>
      </p:sp>
      <p:pic>
        <p:nvPicPr>
          <p:cNvPr id="125" name="Google Shape;125;p23"/>
          <p:cNvPicPr preferRelativeResize="0"/>
          <p:nvPr/>
        </p:nvPicPr>
        <p:blipFill>
          <a:blip r:embed="rId3">
            <a:alphaModFix/>
          </a:blip>
          <a:stretch>
            <a:fillRect/>
          </a:stretch>
        </p:blipFill>
        <p:spPr>
          <a:xfrm>
            <a:off x="8361517" y="-8"/>
            <a:ext cx="782475" cy="782475"/>
          </a:xfrm>
          <a:prstGeom prst="rect">
            <a:avLst/>
          </a:prstGeom>
          <a:noFill/>
          <a:ln>
            <a:noFill/>
          </a:ln>
        </p:spPr>
      </p:pic>
      <p:pic>
        <p:nvPicPr>
          <p:cNvPr id="126" name="Google Shape;126;p23"/>
          <p:cNvPicPr preferRelativeResize="0"/>
          <p:nvPr/>
        </p:nvPicPr>
        <p:blipFill>
          <a:blip r:embed="rId4">
            <a:alphaModFix/>
          </a:blip>
          <a:stretch>
            <a:fillRect/>
          </a:stretch>
        </p:blipFill>
        <p:spPr>
          <a:xfrm>
            <a:off x="1051150" y="1051150"/>
            <a:ext cx="6827375" cy="3617375"/>
          </a:xfrm>
          <a:prstGeom prst="rect">
            <a:avLst/>
          </a:prstGeom>
          <a:noFill/>
          <a:ln>
            <a:noFill/>
          </a:ln>
        </p:spPr>
      </p:pic>
      <p:pic>
        <p:nvPicPr>
          <p:cNvPr id="127" name="Google Shape;127;p23"/>
          <p:cNvPicPr preferRelativeResize="0"/>
          <p:nvPr/>
        </p:nvPicPr>
        <p:blipFill>
          <a:blip r:embed="rId5">
            <a:alphaModFix/>
          </a:blip>
          <a:stretch>
            <a:fillRect/>
          </a:stretch>
        </p:blipFill>
        <p:spPr>
          <a:xfrm>
            <a:off x="7938875" y="3938375"/>
            <a:ext cx="1205125" cy="1205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4"/>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Dealing with Null Values </a:t>
            </a:r>
            <a:endParaRPr b="1" u="sng"/>
          </a:p>
        </p:txBody>
      </p:sp>
      <p:pic>
        <p:nvPicPr>
          <p:cNvPr id="133" name="Google Shape;133;p24"/>
          <p:cNvPicPr preferRelativeResize="0"/>
          <p:nvPr/>
        </p:nvPicPr>
        <p:blipFill>
          <a:blip r:embed="rId3">
            <a:alphaModFix/>
          </a:blip>
          <a:stretch>
            <a:fillRect/>
          </a:stretch>
        </p:blipFill>
        <p:spPr>
          <a:xfrm>
            <a:off x="1704300" y="572700"/>
            <a:ext cx="5694575" cy="1419225"/>
          </a:xfrm>
          <a:prstGeom prst="rect">
            <a:avLst/>
          </a:prstGeom>
          <a:noFill/>
          <a:ln>
            <a:noFill/>
          </a:ln>
        </p:spPr>
      </p:pic>
      <p:pic>
        <p:nvPicPr>
          <p:cNvPr id="134" name="Google Shape;134;p24"/>
          <p:cNvPicPr preferRelativeResize="0"/>
          <p:nvPr/>
        </p:nvPicPr>
        <p:blipFill>
          <a:blip r:embed="rId4">
            <a:alphaModFix/>
          </a:blip>
          <a:stretch>
            <a:fillRect/>
          </a:stretch>
        </p:blipFill>
        <p:spPr>
          <a:xfrm>
            <a:off x="2223875" y="2112075"/>
            <a:ext cx="4200525" cy="2807800"/>
          </a:xfrm>
          <a:prstGeom prst="rect">
            <a:avLst/>
          </a:prstGeom>
          <a:noFill/>
          <a:ln>
            <a:noFill/>
          </a:ln>
        </p:spPr>
      </p:pic>
      <p:pic>
        <p:nvPicPr>
          <p:cNvPr id="135" name="Google Shape;135;p24"/>
          <p:cNvPicPr preferRelativeResize="0"/>
          <p:nvPr/>
        </p:nvPicPr>
        <p:blipFill>
          <a:blip r:embed="rId5">
            <a:alphaModFix/>
          </a:blip>
          <a:stretch>
            <a:fillRect/>
          </a:stretch>
        </p:blipFill>
        <p:spPr>
          <a:xfrm>
            <a:off x="8361517" y="-8"/>
            <a:ext cx="782475" cy="7824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5"/>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u="sng"/>
              <a:t>Dealing with Null Values Count</a:t>
            </a:r>
            <a:endParaRPr u="sng"/>
          </a:p>
        </p:txBody>
      </p:sp>
      <p:pic>
        <p:nvPicPr>
          <p:cNvPr id="141" name="Google Shape;141;p25"/>
          <p:cNvPicPr preferRelativeResize="0"/>
          <p:nvPr/>
        </p:nvPicPr>
        <p:blipFill>
          <a:blip r:embed="rId3">
            <a:alphaModFix/>
          </a:blip>
          <a:stretch>
            <a:fillRect/>
          </a:stretch>
        </p:blipFill>
        <p:spPr>
          <a:xfrm>
            <a:off x="8361517" y="-8"/>
            <a:ext cx="782475" cy="782475"/>
          </a:xfrm>
          <a:prstGeom prst="rect">
            <a:avLst/>
          </a:prstGeom>
          <a:noFill/>
          <a:ln>
            <a:noFill/>
          </a:ln>
        </p:spPr>
      </p:pic>
      <p:pic>
        <p:nvPicPr>
          <p:cNvPr id="142" name="Google Shape;142;p25"/>
          <p:cNvPicPr preferRelativeResize="0"/>
          <p:nvPr/>
        </p:nvPicPr>
        <p:blipFill>
          <a:blip r:embed="rId4">
            <a:alphaModFix/>
          </a:blip>
          <a:stretch>
            <a:fillRect/>
          </a:stretch>
        </p:blipFill>
        <p:spPr>
          <a:xfrm>
            <a:off x="0" y="739512"/>
            <a:ext cx="9144001" cy="440397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6"/>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Converting Data Type</a:t>
            </a:r>
            <a:endParaRPr b="1" u="sng"/>
          </a:p>
        </p:txBody>
      </p:sp>
      <p:pic>
        <p:nvPicPr>
          <p:cNvPr id="148" name="Google Shape;148;p26"/>
          <p:cNvPicPr preferRelativeResize="0"/>
          <p:nvPr/>
        </p:nvPicPr>
        <p:blipFill>
          <a:blip r:embed="rId3">
            <a:alphaModFix/>
          </a:blip>
          <a:stretch>
            <a:fillRect/>
          </a:stretch>
        </p:blipFill>
        <p:spPr>
          <a:xfrm>
            <a:off x="311700" y="572688"/>
            <a:ext cx="2838450" cy="4391025"/>
          </a:xfrm>
          <a:prstGeom prst="rect">
            <a:avLst/>
          </a:prstGeom>
          <a:noFill/>
          <a:ln>
            <a:noFill/>
          </a:ln>
        </p:spPr>
      </p:pic>
      <p:pic>
        <p:nvPicPr>
          <p:cNvPr id="149" name="Google Shape;149;p26"/>
          <p:cNvPicPr preferRelativeResize="0"/>
          <p:nvPr/>
        </p:nvPicPr>
        <p:blipFill>
          <a:blip r:embed="rId4">
            <a:alphaModFix/>
          </a:blip>
          <a:stretch>
            <a:fillRect/>
          </a:stretch>
        </p:blipFill>
        <p:spPr>
          <a:xfrm>
            <a:off x="3150150" y="1912688"/>
            <a:ext cx="5689049" cy="937131"/>
          </a:xfrm>
          <a:prstGeom prst="rect">
            <a:avLst/>
          </a:prstGeom>
          <a:noFill/>
          <a:ln>
            <a:noFill/>
          </a:ln>
        </p:spPr>
      </p:pic>
      <p:pic>
        <p:nvPicPr>
          <p:cNvPr id="150" name="Google Shape;150;p26"/>
          <p:cNvPicPr preferRelativeResize="0"/>
          <p:nvPr/>
        </p:nvPicPr>
        <p:blipFill>
          <a:blip r:embed="rId5">
            <a:alphaModFix/>
          </a:blip>
          <a:stretch>
            <a:fillRect/>
          </a:stretch>
        </p:blipFill>
        <p:spPr>
          <a:xfrm>
            <a:off x="3150150" y="3002219"/>
            <a:ext cx="2790825" cy="228600"/>
          </a:xfrm>
          <a:prstGeom prst="rect">
            <a:avLst/>
          </a:prstGeom>
          <a:noFill/>
          <a:ln>
            <a:noFill/>
          </a:ln>
        </p:spPr>
      </p:pic>
      <p:pic>
        <p:nvPicPr>
          <p:cNvPr id="151" name="Google Shape;151;p26"/>
          <p:cNvPicPr preferRelativeResize="0"/>
          <p:nvPr/>
        </p:nvPicPr>
        <p:blipFill>
          <a:blip r:embed="rId6">
            <a:alphaModFix/>
          </a:blip>
          <a:stretch>
            <a:fillRect/>
          </a:stretch>
        </p:blipFill>
        <p:spPr>
          <a:xfrm>
            <a:off x="8361517" y="-8"/>
            <a:ext cx="782475" cy="7824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7"/>
          <p:cNvSpPr txBox="1">
            <a:spLocks noGrp="1"/>
          </p:cNvSpPr>
          <p:nvPr>
            <p:ph type="title"/>
          </p:nvPr>
        </p:nvSpPr>
        <p:spPr>
          <a:xfrm>
            <a:off x="311700" y="0"/>
            <a:ext cx="8520600" cy="7932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None/>
            </a:pPr>
            <a:r>
              <a:rPr lang="en" sz="2744" b="1" u="sng"/>
              <a:t>Data Visualization</a:t>
            </a:r>
            <a:endParaRPr sz="2744" b="1" u="sng"/>
          </a:p>
          <a:p>
            <a:pPr marL="0" lvl="0" indent="0" algn="l" rtl="0">
              <a:lnSpc>
                <a:spcPct val="115000"/>
              </a:lnSpc>
              <a:spcBef>
                <a:spcPts val="0"/>
              </a:spcBef>
              <a:spcAft>
                <a:spcPts val="0"/>
              </a:spcAft>
              <a:buNone/>
            </a:pPr>
            <a:r>
              <a:rPr lang="en" sz="2100"/>
              <a:t>Let’s take some insights from our data:</a:t>
            </a:r>
            <a:endParaRPr sz="2100"/>
          </a:p>
        </p:txBody>
      </p:sp>
      <p:sp>
        <p:nvSpPr>
          <p:cNvPr id="157" name="Google Shape;157;p27"/>
          <p:cNvSpPr txBox="1"/>
          <p:nvPr/>
        </p:nvSpPr>
        <p:spPr>
          <a:xfrm>
            <a:off x="0" y="793200"/>
            <a:ext cx="9144000" cy="4215900"/>
          </a:xfrm>
          <a:prstGeom prst="rect">
            <a:avLst/>
          </a:prstGeom>
          <a:noFill/>
          <a:ln>
            <a:noFill/>
          </a:ln>
        </p:spPr>
        <p:txBody>
          <a:bodyPr spcFirstLastPara="1" wrap="square" lIns="91425" tIns="91425" rIns="91425" bIns="91425" anchor="t" anchorCtr="0">
            <a:spAutoFit/>
          </a:bodyPr>
          <a:lstStyle/>
          <a:p>
            <a:pPr marL="457200" lvl="0" indent="-314325" algn="l" rtl="0">
              <a:lnSpc>
                <a:spcPct val="115000"/>
              </a:lnSpc>
              <a:spcBef>
                <a:spcPts val="120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What is the correlation between the given data?</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Which type of Hotel is mostly prefered by the customers?</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What is the reason for cancellation of bookings?</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Which type of hotel bookings are mostly cancelled?</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Which Year is the most profitable for hotel bookings?</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In which month most hotels were booked?</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When the hotel gets more guest i.e., in weekdays or weekends?</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Which type of hotel is mostly preferred by adults having children or babies?</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What is the booking rate according to the population?</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The maximum number of guests are from which country?</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Which market segment is more profitable for hotel bookings?</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Which form of distribution do customers prefer most?</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What is the number of repeated families in hotel bookings and which type of hotel has more loyal customers?</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Which hotel produces maximum revenue?</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Which room type has highest average daily rate?</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Does a longer waiting period result in cancelled bookings?</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In which month do the hotels have the highest revenue?</a:t>
            </a:r>
            <a:endParaRPr sz="1350">
              <a:solidFill>
                <a:schemeClr val="accent2"/>
              </a:solidFill>
              <a:highlight>
                <a:srgbClr val="FFFFFF"/>
              </a:highlight>
              <a:latin typeface="Roboto"/>
              <a:ea typeface="Roboto"/>
              <a:cs typeface="Roboto"/>
              <a:sym typeface="Roboto"/>
            </a:endParaRPr>
          </a:p>
        </p:txBody>
      </p:sp>
      <p:pic>
        <p:nvPicPr>
          <p:cNvPr id="158" name="Google Shape;158;p27"/>
          <p:cNvPicPr preferRelativeResize="0"/>
          <p:nvPr/>
        </p:nvPicPr>
        <p:blipFill>
          <a:blip r:embed="rId3">
            <a:alphaModFix/>
          </a:blip>
          <a:stretch>
            <a:fillRect/>
          </a:stretch>
        </p:blipFill>
        <p:spPr>
          <a:xfrm>
            <a:off x="8361517" y="-8"/>
            <a:ext cx="782475" cy="7824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8"/>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a:bodyPr>
          <a:lstStyle/>
          <a:p>
            <a:pPr marL="0" marR="38100" lvl="0" indent="0" algn="l" rtl="0">
              <a:lnSpc>
                <a:spcPct val="115000"/>
              </a:lnSpc>
              <a:spcBef>
                <a:spcPts val="600"/>
              </a:spcBef>
              <a:spcAft>
                <a:spcPts val="500"/>
              </a:spcAft>
              <a:buNone/>
            </a:pPr>
            <a:r>
              <a:rPr lang="en" sz="2500" b="1">
                <a:solidFill>
                  <a:schemeClr val="accent2"/>
                </a:solidFill>
                <a:latin typeface="Roboto"/>
                <a:ea typeface="Roboto"/>
                <a:cs typeface="Roboto"/>
                <a:sym typeface="Roboto"/>
              </a:rPr>
              <a:t>What is the count of each type of Hotels ?</a:t>
            </a:r>
            <a:endParaRPr sz="2500" b="1"/>
          </a:p>
        </p:txBody>
      </p:sp>
      <p:pic>
        <p:nvPicPr>
          <p:cNvPr id="164" name="Google Shape;164;p28"/>
          <p:cNvPicPr preferRelativeResize="0"/>
          <p:nvPr/>
        </p:nvPicPr>
        <p:blipFill>
          <a:blip r:embed="rId3">
            <a:alphaModFix/>
          </a:blip>
          <a:stretch>
            <a:fillRect/>
          </a:stretch>
        </p:blipFill>
        <p:spPr>
          <a:xfrm>
            <a:off x="-74550" y="1693350"/>
            <a:ext cx="9144001" cy="3486562"/>
          </a:xfrm>
          <a:prstGeom prst="rect">
            <a:avLst/>
          </a:prstGeom>
          <a:noFill/>
          <a:ln>
            <a:noFill/>
          </a:ln>
        </p:spPr>
      </p:pic>
      <p:pic>
        <p:nvPicPr>
          <p:cNvPr id="165" name="Google Shape;165;p28"/>
          <p:cNvPicPr preferRelativeResize="0"/>
          <p:nvPr/>
        </p:nvPicPr>
        <p:blipFill>
          <a:blip r:embed="rId4">
            <a:alphaModFix/>
          </a:blip>
          <a:stretch>
            <a:fillRect/>
          </a:stretch>
        </p:blipFill>
        <p:spPr>
          <a:xfrm>
            <a:off x="2596600" y="783900"/>
            <a:ext cx="3333750" cy="971550"/>
          </a:xfrm>
          <a:prstGeom prst="rect">
            <a:avLst/>
          </a:prstGeom>
          <a:noFill/>
          <a:ln>
            <a:noFill/>
          </a:ln>
        </p:spPr>
      </p:pic>
      <p:pic>
        <p:nvPicPr>
          <p:cNvPr id="166" name="Google Shape;166;p28"/>
          <p:cNvPicPr preferRelativeResize="0"/>
          <p:nvPr/>
        </p:nvPicPr>
        <p:blipFill>
          <a:blip r:embed="rId5">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5"/>
                                        </p:tgtEl>
                                        <p:attrNameLst>
                                          <p:attrName>style.visibility</p:attrName>
                                        </p:attrNameLst>
                                      </p:cBhvr>
                                      <p:to>
                                        <p:strVal val="visible"/>
                                      </p:to>
                                    </p:set>
                                    <p:animEffect transition="in" filter="fade">
                                      <p:cBhvr>
                                        <p:cTn id="7" dur="1000"/>
                                        <p:tgtEl>
                                          <p:spTgt spid="16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4"/>
                                        </p:tgtEl>
                                        <p:attrNameLst>
                                          <p:attrName>style.visibility</p:attrName>
                                        </p:attrNameLst>
                                      </p:cBhvr>
                                      <p:to>
                                        <p:strVal val="visible"/>
                                      </p:to>
                                    </p:set>
                                    <p:animEffect transition="in" filter="fade">
                                      <p:cBhvr>
                                        <p:cTn id="12" dur="1000"/>
                                        <p:tgtEl>
                                          <p:spTgt spid="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9"/>
          <p:cNvSpPr txBox="1">
            <a:spLocks noGrp="1"/>
          </p:cNvSpPr>
          <p:nvPr>
            <p:ph type="title"/>
          </p:nvPr>
        </p:nvSpPr>
        <p:spPr>
          <a:xfrm>
            <a:off x="38625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Data Visualization of hotel type</a:t>
            </a:r>
            <a:endParaRPr b="1" u="sng"/>
          </a:p>
        </p:txBody>
      </p:sp>
      <p:sp>
        <p:nvSpPr>
          <p:cNvPr id="172" name="Google Shape;172;p29"/>
          <p:cNvSpPr txBox="1">
            <a:spLocks noGrp="1"/>
          </p:cNvSpPr>
          <p:nvPr>
            <p:ph type="body" idx="1"/>
          </p:nvPr>
        </p:nvSpPr>
        <p:spPr>
          <a:xfrm>
            <a:off x="0" y="3665075"/>
            <a:ext cx="9144000" cy="1478400"/>
          </a:xfrm>
          <a:prstGeom prst="rect">
            <a:avLst/>
          </a:prstGeom>
        </p:spPr>
        <p:txBody>
          <a:bodyPr spcFirstLastPara="1" wrap="square" lIns="91425" tIns="91425" rIns="91425" bIns="91425" anchor="t" anchorCtr="0">
            <a:normAutofit fontScale="25000" lnSpcReduction="20000"/>
          </a:bodyPr>
          <a:lstStyle/>
          <a:p>
            <a:pPr marL="457200" lvl="0" indent="-321131" algn="l" rtl="0">
              <a:lnSpc>
                <a:spcPct val="150000"/>
              </a:lnSpc>
              <a:spcBef>
                <a:spcPts val="600"/>
              </a:spcBef>
              <a:spcAft>
                <a:spcPts val="0"/>
              </a:spcAft>
              <a:buClr>
                <a:schemeClr val="accent2"/>
              </a:buClr>
              <a:buSzPct val="100000"/>
              <a:buFont typeface="Roboto"/>
              <a:buChar char="●"/>
            </a:pPr>
            <a:r>
              <a:rPr lang="en" sz="5828">
                <a:solidFill>
                  <a:schemeClr val="accent2"/>
                </a:solidFill>
                <a:highlight>
                  <a:srgbClr val="FFFFFF"/>
                </a:highlight>
                <a:latin typeface="Roboto"/>
                <a:ea typeface="Roboto"/>
                <a:cs typeface="Roboto"/>
                <a:sym typeface="Roboto"/>
              </a:rPr>
              <a:t>We have found there are two types of hotel in the given dataset.</a:t>
            </a:r>
            <a:endParaRPr sz="5778">
              <a:solidFill>
                <a:schemeClr val="accent2"/>
              </a:solidFill>
              <a:highlight>
                <a:srgbClr val="FFFFFF"/>
              </a:highlight>
              <a:latin typeface="Roboto"/>
              <a:ea typeface="Roboto"/>
              <a:cs typeface="Roboto"/>
              <a:sym typeface="Roboto"/>
            </a:endParaRPr>
          </a:p>
          <a:p>
            <a:pPr marL="457200" lvl="0" indent="-321131" algn="l" rtl="0">
              <a:lnSpc>
                <a:spcPct val="150000"/>
              </a:lnSpc>
              <a:spcBef>
                <a:spcPts val="0"/>
              </a:spcBef>
              <a:spcAft>
                <a:spcPts val="0"/>
              </a:spcAft>
              <a:buClr>
                <a:schemeClr val="accent2"/>
              </a:buClr>
              <a:buSzPct val="102813"/>
              <a:buFont typeface="Roboto"/>
              <a:buChar char="●"/>
            </a:pPr>
            <a:r>
              <a:rPr lang="en" sz="5669">
                <a:solidFill>
                  <a:schemeClr val="accent2"/>
                </a:solidFill>
                <a:highlight>
                  <a:srgbClr val="FFFFFF"/>
                </a:highlight>
                <a:latin typeface="Roboto"/>
                <a:ea typeface="Roboto"/>
                <a:cs typeface="Roboto"/>
                <a:sym typeface="Roboto"/>
              </a:rPr>
              <a:t>It seems that a huge proportion of hotels was city hotel. Resort hotel tend to be on the expensive side and most people will just stick with </a:t>
            </a:r>
            <a:r>
              <a:rPr lang="en" sz="5669" b="1">
                <a:solidFill>
                  <a:schemeClr val="accent2"/>
                </a:solidFill>
                <a:highlight>
                  <a:srgbClr val="FFFFFF"/>
                </a:highlight>
                <a:latin typeface="Roboto"/>
                <a:ea typeface="Roboto"/>
                <a:cs typeface="Roboto"/>
                <a:sym typeface="Roboto"/>
              </a:rPr>
              <a:t>City hotel</a:t>
            </a:r>
            <a:r>
              <a:rPr lang="en" sz="5669">
                <a:solidFill>
                  <a:schemeClr val="accent2"/>
                </a:solidFill>
                <a:highlight>
                  <a:srgbClr val="FFFFFF"/>
                </a:highlight>
                <a:latin typeface="Roboto"/>
                <a:ea typeface="Roboto"/>
                <a:cs typeface="Roboto"/>
                <a:sym typeface="Roboto"/>
              </a:rPr>
              <a:t>.</a:t>
            </a:r>
            <a:endParaRPr sz="5669">
              <a:solidFill>
                <a:schemeClr val="accent2"/>
              </a:solidFill>
              <a:highlight>
                <a:srgbClr val="FFFFFF"/>
              </a:highlight>
              <a:latin typeface="Roboto"/>
              <a:ea typeface="Roboto"/>
              <a:cs typeface="Roboto"/>
              <a:sym typeface="Roboto"/>
            </a:endParaRPr>
          </a:p>
          <a:p>
            <a:pPr marL="457200" lvl="0" indent="-318599" algn="l" rtl="0">
              <a:lnSpc>
                <a:spcPct val="150000"/>
              </a:lnSpc>
              <a:spcBef>
                <a:spcPts val="0"/>
              </a:spcBef>
              <a:spcAft>
                <a:spcPts val="0"/>
              </a:spcAft>
              <a:buClr>
                <a:schemeClr val="accent2"/>
              </a:buClr>
              <a:buSzPct val="100000"/>
              <a:buFont typeface="Roboto"/>
              <a:buChar char="●"/>
            </a:pPr>
            <a:r>
              <a:rPr lang="en" sz="5669">
                <a:solidFill>
                  <a:schemeClr val="accent2"/>
                </a:solidFill>
                <a:highlight>
                  <a:srgbClr val="FFFFFF"/>
                </a:highlight>
                <a:latin typeface="Roboto"/>
                <a:ea typeface="Roboto"/>
                <a:cs typeface="Roboto"/>
                <a:sym typeface="Roboto"/>
              </a:rPr>
              <a:t>The most of the hotels are booked in the year </a:t>
            </a:r>
            <a:r>
              <a:rPr lang="en" sz="5669" b="1">
                <a:solidFill>
                  <a:schemeClr val="accent2"/>
                </a:solidFill>
                <a:highlight>
                  <a:srgbClr val="FFFFFF"/>
                </a:highlight>
                <a:latin typeface="Roboto"/>
                <a:ea typeface="Roboto"/>
                <a:cs typeface="Roboto"/>
                <a:sym typeface="Roboto"/>
              </a:rPr>
              <a:t>2016</a:t>
            </a:r>
            <a:endParaRPr sz="5669" b="1">
              <a:solidFill>
                <a:schemeClr val="accent2"/>
              </a:solidFill>
              <a:highlight>
                <a:srgbClr val="FFFFFF"/>
              </a:highlight>
              <a:latin typeface="Roboto"/>
              <a:ea typeface="Roboto"/>
              <a:cs typeface="Roboto"/>
              <a:sym typeface="Roboto"/>
            </a:endParaRPr>
          </a:p>
          <a:p>
            <a:pPr marL="0" lvl="0" indent="0" algn="l" rtl="0">
              <a:spcBef>
                <a:spcPts val="600"/>
              </a:spcBef>
              <a:spcAft>
                <a:spcPts val="0"/>
              </a:spcAft>
              <a:buNone/>
            </a:pPr>
            <a:endParaRPr>
              <a:solidFill>
                <a:schemeClr val="accent2"/>
              </a:solidFill>
              <a:highlight>
                <a:srgbClr val="FFFFFF"/>
              </a:highlight>
              <a:latin typeface="Roboto"/>
              <a:ea typeface="Roboto"/>
              <a:cs typeface="Roboto"/>
              <a:sym typeface="Roboto"/>
            </a:endParaRPr>
          </a:p>
          <a:p>
            <a:pPr marL="457200" lvl="0" indent="0" algn="l" rtl="0">
              <a:spcBef>
                <a:spcPts val="600"/>
              </a:spcBef>
              <a:spcAft>
                <a:spcPts val="500"/>
              </a:spcAft>
              <a:buNone/>
            </a:pPr>
            <a:endParaRPr>
              <a:solidFill>
                <a:schemeClr val="accent2"/>
              </a:solidFill>
              <a:highlight>
                <a:srgbClr val="FFFFFF"/>
              </a:highlight>
              <a:latin typeface="Roboto"/>
              <a:ea typeface="Roboto"/>
              <a:cs typeface="Roboto"/>
              <a:sym typeface="Roboto"/>
            </a:endParaRPr>
          </a:p>
        </p:txBody>
      </p:sp>
      <p:pic>
        <p:nvPicPr>
          <p:cNvPr id="173" name="Google Shape;173;p29"/>
          <p:cNvPicPr preferRelativeResize="0"/>
          <p:nvPr/>
        </p:nvPicPr>
        <p:blipFill>
          <a:blip r:embed="rId3">
            <a:alphaModFix/>
          </a:blip>
          <a:stretch>
            <a:fillRect/>
          </a:stretch>
        </p:blipFill>
        <p:spPr>
          <a:xfrm>
            <a:off x="0" y="972900"/>
            <a:ext cx="4010025" cy="2692175"/>
          </a:xfrm>
          <a:prstGeom prst="rect">
            <a:avLst/>
          </a:prstGeom>
          <a:noFill/>
          <a:ln>
            <a:noFill/>
          </a:ln>
        </p:spPr>
      </p:pic>
      <p:sp>
        <p:nvSpPr>
          <p:cNvPr id="174" name="Google Shape;174;p29"/>
          <p:cNvSpPr txBox="1"/>
          <p:nvPr/>
        </p:nvSpPr>
        <p:spPr>
          <a:xfrm>
            <a:off x="0" y="572700"/>
            <a:ext cx="8907000" cy="400200"/>
          </a:xfrm>
          <a:prstGeom prst="rect">
            <a:avLst/>
          </a:prstGeom>
          <a:noFill/>
          <a:ln>
            <a:noFill/>
          </a:ln>
        </p:spPr>
        <p:txBody>
          <a:bodyPr spcFirstLastPara="1" wrap="square" lIns="91425" tIns="91425" rIns="91425" bIns="91425" anchor="t" anchorCtr="0">
            <a:spAutoFit/>
          </a:bodyPr>
          <a:lstStyle/>
          <a:p>
            <a:pPr marL="0" marR="38100" lvl="0" indent="0" algn="ctr" rtl="0">
              <a:lnSpc>
                <a:spcPct val="115000"/>
              </a:lnSpc>
              <a:spcBef>
                <a:spcPts val="600"/>
              </a:spcBef>
              <a:spcAft>
                <a:spcPts val="500"/>
              </a:spcAft>
              <a:buNone/>
            </a:pPr>
            <a:r>
              <a:rPr lang="en" b="1">
                <a:solidFill>
                  <a:schemeClr val="accent2"/>
                </a:solidFill>
                <a:latin typeface="Roboto"/>
                <a:ea typeface="Roboto"/>
                <a:cs typeface="Roboto"/>
                <a:sym typeface="Roboto"/>
              </a:rPr>
              <a:t>Which of the two hotels is preferred by customers, and in which year most hotels were booked?</a:t>
            </a:r>
            <a:endParaRPr/>
          </a:p>
        </p:txBody>
      </p:sp>
      <p:pic>
        <p:nvPicPr>
          <p:cNvPr id="175" name="Google Shape;175;p29"/>
          <p:cNvPicPr preferRelativeResize="0"/>
          <p:nvPr/>
        </p:nvPicPr>
        <p:blipFill>
          <a:blip r:embed="rId4">
            <a:alphaModFix/>
          </a:blip>
          <a:stretch>
            <a:fillRect/>
          </a:stretch>
        </p:blipFill>
        <p:spPr>
          <a:xfrm>
            <a:off x="5168350" y="972899"/>
            <a:ext cx="3174254" cy="2692175"/>
          </a:xfrm>
          <a:prstGeom prst="rect">
            <a:avLst/>
          </a:prstGeom>
          <a:noFill/>
          <a:ln>
            <a:noFill/>
          </a:ln>
        </p:spPr>
      </p:pic>
      <p:pic>
        <p:nvPicPr>
          <p:cNvPr id="176" name="Google Shape;176;p29"/>
          <p:cNvPicPr preferRelativeResize="0"/>
          <p:nvPr/>
        </p:nvPicPr>
        <p:blipFill>
          <a:blip r:embed="rId5">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3"/>
                                        </p:tgtEl>
                                        <p:attrNameLst>
                                          <p:attrName>style.visibility</p:attrName>
                                        </p:attrNameLst>
                                      </p:cBhvr>
                                      <p:to>
                                        <p:strVal val="visible"/>
                                      </p:to>
                                    </p:set>
                                    <p:animEffect transition="in" filter="fade">
                                      <p:cBhvr>
                                        <p:cTn id="7" dur="1000"/>
                                        <p:tgtEl>
                                          <p:spTgt spid="17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5"/>
                                        </p:tgtEl>
                                        <p:attrNameLst>
                                          <p:attrName>style.visibility</p:attrName>
                                        </p:attrNameLst>
                                      </p:cBhvr>
                                      <p:to>
                                        <p:strVal val="visible"/>
                                      </p:to>
                                    </p:set>
                                    <p:animEffect transition="in" filter="fade">
                                      <p:cBhvr>
                                        <p:cTn id="12" dur="1000"/>
                                        <p:tgtEl>
                                          <p:spTgt spid="17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2"/>
                                        </p:tgtEl>
                                        <p:attrNameLst>
                                          <p:attrName>style.visibility</p:attrName>
                                        </p:attrNameLst>
                                      </p:cBhvr>
                                      <p:to>
                                        <p:strVal val="visible"/>
                                      </p:to>
                                    </p:set>
                                    <p:animEffect transition="in" filter="fade">
                                      <p:cBhvr>
                                        <p:cTn id="17" dur="1000"/>
                                        <p:tgtEl>
                                          <p:spTgt spid="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0"/>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a:bodyPr>
          <a:lstStyle/>
          <a:p>
            <a:pPr marL="0" marR="38100" lvl="0" indent="0" algn="l" rtl="0">
              <a:lnSpc>
                <a:spcPct val="115000"/>
              </a:lnSpc>
              <a:spcBef>
                <a:spcPts val="600"/>
              </a:spcBef>
              <a:spcAft>
                <a:spcPts val="500"/>
              </a:spcAft>
              <a:buNone/>
            </a:pPr>
            <a:r>
              <a:rPr lang="en" sz="2500" b="1" u="sng">
                <a:latin typeface="Roboto"/>
                <a:ea typeface="Roboto"/>
                <a:cs typeface="Roboto"/>
                <a:sym typeface="Roboto"/>
              </a:rPr>
              <a:t>Data Visualization</a:t>
            </a:r>
            <a:endParaRPr sz="2700" b="1" u="sng"/>
          </a:p>
        </p:txBody>
      </p:sp>
      <p:sp>
        <p:nvSpPr>
          <p:cNvPr id="182" name="Google Shape;182;p30"/>
          <p:cNvSpPr txBox="1">
            <a:spLocks noGrp="1"/>
          </p:cNvSpPr>
          <p:nvPr>
            <p:ph type="body" idx="1"/>
          </p:nvPr>
        </p:nvSpPr>
        <p:spPr>
          <a:xfrm>
            <a:off x="311700" y="572700"/>
            <a:ext cx="8670900" cy="456000"/>
          </a:xfrm>
          <a:prstGeom prst="rect">
            <a:avLst/>
          </a:prstGeom>
        </p:spPr>
        <p:txBody>
          <a:bodyPr spcFirstLastPara="1" wrap="square" lIns="91425" tIns="91425" rIns="91425" bIns="91425" anchor="t" anchorCtr="0">
            <a:normAutofit/>
          </a:bodyPr>
          <a:lstStyle/>
          <a:p>
            <a:pPr marL="76200" marR="38100" lvl="0" indent="0" algn="l" rtl="0">
              <a:spcBef>
                <a:spcPts val="600"/>
              </a:spcBef>
              <a:spcAft>
                <a:spcPts val="500"/>
              </a:spcAft>
              <a:buClr>
                <a:schemeClr val="dk1"/>
              </a:buClr>
              <a:buSzPts val="1100"/>
              <a:buFont typeface="Arial"/>
              <a:buNone/>
            </a:pPr>
            <a:r>
              <a:rPr lang="en" sz="1600" b="1">
                <a:solidFill>
                  <a:schemeClr val="accent2"/>
                </a:solidFill>
                <a:latin typeface="Roboto"/>
                <a:ea typeface="Roboto"/>
                <a:cs typeface="Roboto"/>
                <a:sym typeface="Roboto"/>
              </a:rPr>
              <a:t>When the hotel gets more guest i.e., in weekdays or weekends?</a:t>
            </a:r>
            <a:endParaRPr sz="2200" b="1"/>
          </a:p>
        </p:txBody>
      </p:sp>
      <p:pic>
        <p:nvPicPr>
          <p:cNvPr id="183" name="Google Shape;183;p30"/>
          <p:cNvPicPr preferRelativeResize="0"/>
          <p:nvPr/>
        </p:nvPicPr>
        <p:blipFill>
          <a:blip r:embed="rId3">
            <a:alphaModFix/>
          </a:blip>
          <a:stretch>
            <a:fillRect/>
          </a:stretch>
        </p:blipFill>
        <p:spPr>
          <a:xfrm>
            <a:off x="152400" y="1248050"/>
            <a:ext cx="3409950" cy="3028950"/>
          </a:xfrm>
          <a:prstGeom prst="rect">
            <a:avLst/>
          </a:prstGeom>
          <a:noFill/>
          <a:ln>
            <a:noFill/>
          </a:ln>
        </p:spPr>
      </p:pic>
      <p:pic>
        <p:nvPicPr>
          <p:cNvPr id="184" name="Google Shape;184;p30"/>
          <p:cNvPicPr preferRelativeResize="0"/>
          <p:nvPr/>
        </p:nvPicPr>
        <p:blipFill>
          <a:blip r:embed="rId4">
            <a:alphaModFix/>
          </a:blip>
          <a:stretch>
            <a:fillRect/>
          </a:stretch>
        </p:blipFill>
        <p:spPr>
          <a:xfrm>
            <a:off x="3714750" y="1181100"/>
            <a:ext cx="3409950" cy="3162852"/>
          </a:xfrm>
          <a:prstGeom prst="rect">
            <a:avLst/>
          </a:prstGeom>
          <a:noFill/>
          <a:ln>
            <a:noFill/>
          </a:ln>
        </p:spPr>
      </p:pic>
      <p:sp>
        <p:nvSpPr>
          <p:cNvPr id="185" name="Google Shape;185;p30"/>
          <p:cNvSpPr txBox="1"/>
          <p:nvPr/>
        </p:nvSpPr>
        <p:spPr>
          <a:xfrm>
            <a:off x="152400" y="4277000"/>
            <a:ext cx="7138800" cy="725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600"/>
              </a:spcBef>
              <a:spcAft>
                <a:spcPts val="0"/>
              </a:spcAft>
              <a:buClr>
                <a:schemeClr val="dk1"/>
              </a:buClr>
              <a:buSzPts val="1100"/>
              <a:buFont typeface="Arial"/>
              <a:buNone/>
            </a:pPr>
            <a:r>
              <a:rPr lang="en" b="1">
                <a:solidFill>
                  <a:schemeClr val="accent2"/>
                </a:solidFill>
                <a:highlight>
                  <a:srgbClr val="FFFFFF"/>
                </a:highlight>
                <a:latin typeface="Roboto"/>
                <a:ea typeface="Roboto"/>
                <a:cs typeface="Roboto"/>
                <a:sym typeface="Roboto"/>
              </a:rPr>
              <a:t>What do we see this time?</a:t>
            </a:r>
            <a:endParaRPr b="1">
              <a:solidFill>
                <a:schemeClr val="accent2"/>
              </a:solidFill>
              <a:highlight>
                <a:srgbClr val="FFFFFF"/>
              </a:highlight>
              <a:latin typeface="Roboto"/>
              <a:ea typeface="Roboto"/>
              <a:cs typeface="Roboto"/>
              <a:sym typeface="Roboto"/>
            </a:endParaRPr>
          </a:p>
          <a:p>
            <a:pPr marL="457200" lvl="0" indent="-317500" algn="l" rtl="0">
              <a:lnSpc>
                <a:spcPct val="115000"/>
              </a:lnSpc>
              <a:spcBef>
                <a:spcPts val="600"/>
              </a:spcBef>
              <a:spcAft>
                <a:spcPts val="0"/>
              </a:spcAft>
              <a:buClr>
                <a:schemeClr val="accent2"/>
              </a:buClr>
              <a:buSzPts val="1400"/>
              <a:buFont typeface="Roboto"/>
              <a:buChar char="●"/>
            </a:pPr>
            <a:r>
              <a:rPr lang="en">
                <a:solidFill>
                  <a:schemeClr val="accent2"/>
                </a:solidFill>
                <a:highlight>
                  <a:srgbClr val="FFFFFF"/>
                </a:highlight>
                <a:latin typeface="Roboto"/>
                <a:ea typeface="Roboto"/>
                <a:cs typeface="Roboto"/>
                <a:sym typeface="Roboto"/>
              </a:rPr>
              <a:t>It seems that majority of the stays are over the </a:t>
            </a:r>
            <a:r>
              <a:rPr lang="en" b="1">
                <a:solidFill>
                  <a:schemeClr val="accent2"/>
                </a:solidFill>
                <a:highlight>
                  <a:srgbClr val="FFFFFF"/>
                </a:highlight>
                <a:latin typeface="Roboto"/>
                <a:ea typeface="Roboto"/>
                <a:cs typeface="Roboto"/>
                <a:sym typeface="Roboto"/>
              </a:rPr>
              <a:t>weekdays night</a:t>
            </a:r>
            <a:r>
              <a:rPr lang="en">
                <a:solidFill>
                  <a:schemeClr val="accent2"/>
                </a:solidFill>
                <a:highlight>
                  <a:srgbClr val="FFFFFF"/>
                </a:highlight>
                <a:latin typeface="Roboto"/>
                <a:ea typeface="Roboto"/>
                <a:cs typeface="Roboto"/>
                <a:sym typeface="Roboto"/>
              </a:rPr>
              <a:t>.</a:t>
            </a:r>
            <a:endParaRPr sz="1600"/>
          </a:p>
        </p:txBody>
      </p:sp>
      <p:pic>
        <p:nvPicPr>
          <p:cNvPr id="186" name="Google Shape;186;p30"/>
          <p:cNvPicPr preferRelativeResize="0"/>
          <p:nvPr/>
        </p:nvPicPr>
        <p:blipFill>
          <a:blip r:embed="rId5">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3"/>
                                        </p:tgtEl>
                                        <p:attrNameLst>
                                          <p:attrName>style.visibility</p:attrName>
                                        </p:attrNameLst>
                                      </p:cBhvr>
                                      <p:to>
                                        <p:strVal val="visible"/>
                                      </p:to>
                                    </p:set>
                                    <p:animEffect transition="in" filter="fade">
                                      <p:cBhvr>
                                        <p:cTn id="7" dur="1000"/>
                                        <p:tgtEl>
                                          <p:spTgt spid="18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4"/>
                                        </p:tgtEl>
                                        <p:attrNameLst>
                                          <p:attrName>style.visibility</p:attrName>
                                        </p:attrNameLst>
                                      </p:cBhvr>
                                      <p:to>
                                        <p:strVal val="visible"/>
                                      </p:to>
                                    </p:set>
                                    <p:animEffect transition="in" filter="fade">
                                      <p:cBhvr>
                                        <p:cTn id="12" dur="1000"/>
                                        <p:tgtEl>
                                          <p:spTgt spid="18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5"/>
                                        </p:tgtEl>
                                        <p:attrNameLst>
                                          <p:attrName>style.visibility</p:attrName>
                                        </p:attrNameLst>
                                      </p:cBhvr>
                                      <p:to>
                                        <p:strVal val="visible"/>
                                      </p:to>
                                    </p:set>
                                    <p:animEffect transition="in" filter="fade">
                                      <p:cBhvr>
                                        <p:cTn id="17" dur="1000"/>
                                        <p:tgtEl>
                                          <p:spTgt spid="1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224725"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Data Visualization</a:t>
            </a:r>
            <a:endParaRPr b="1" u="sng"/>
          </a:p>
        </p:txBody>
      </p:sp>
      <p:sp>
        <p:nvSpPr>
          <p:cNvPr id="192" name="Google Shape;192;p31"/>
          <p:cNvSpPr txBox="1">
            <a:spLocks noGrp="1"/>
          </p:cNvSpPr>
          <p:nvPr>
            <p:ph type="body" idx="1"/>
          </p:nvPr>
        </p:nvSpPr>
        <p:spPr>
          <a:xfrm>
            <a:off x="224725" y="572700"/>
            <a:ext cx="7813500" cy="450300"/>
          </a:xfrm>
          <a:prstGeom prst="rect">
            <a:avLst/>
          </a:prstGeom>
        </p:spPr>
        <p:txBody>
          <a:bodyPr spcFirstLastPara="1" wrap="square" lIns="91425" tIns="91425" rIns="91425" bIns="91425" anchor="t" anchorCtr="0">
            <a:normAutofit lnSpcReduction="20000"/>
          </a:bodyPr>
          <a:lstStyle/>
          <a:p>
            <a:pPr marL="0" lvl="0" indent="0" algn="l" rtl="0">
              <a:spcBef>
                <a:spcPts val="0"/>
              </a:spcBef>
              <a:spcAft>
                <a:spcPts val="1200"/>
              </a:spcAft>
              <a:buNone/>
            </a:pPr>
            <a:r>
              <a:rPr lang="en" b="1"/>
              <a:t>The maximum number of guests are from which country?</a:t>
            </a:r>
            <a:endParaRPr b="1"/>
          </a:p>
        </p:txBody>
      </p:sp>
      <p:sp>
        <p:nvSpPr>
          <p:cNvPr id="193" name="Google Shape;193;p31"/>
          <p:cNvSpPr txBox="1"/>
          <p:nvPr/>
        </p:nvSpPr>
        <p:spPr>
          <a:xfrm>
            <a:off x="224725" y="4020600"/>
            <a:ext cx="88572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t>Observation </a:t>
            </a:r>
            <a:r>
              <a:rPr lang="en"/>
              <a:t>: More than 25000 people, or the majority of the attendees, are from Portugal.</a:t>
            </a:r>
            <a:endParaRPr/>
          </a:p>
          <a:p>
            <a:pPr marL="0" lvl="0" indent="0" algn="l" rtl="0">
              <a:spcBef>
                <a:spcPts val="0"/>
              </a:spcBef>
              <a:spcAft>
                <a:spcPts val="0"/>
              </a:spcAft>
              <a:buNone/>
            </a:pPr>
            <a:endParaRPr/>
          </a:p>
          <a:p>
            <a:pPr marL="0" lvl="0" indent="0" algn="l" rtl="0">
              <a:spcBef>
                <a:spcPts val="0"/>
              </a:spcBef>
              <a:spcAft>
                <a:spcPts val="0"/>
              </a:spcAft>
              <a:buNone/>
            </a:pPr>
            <a:r>
              <a:rPr lang="en"/>
              <a:t>Abbreviations for nations:</a:t>
            </a:r>
            <a:endParaRPr/>
          </a:p>
          <a:p>
            <a:pPr marL="0" lvl="0" indent="0" algn="l" rtl="0">
              <a:spcBef>
                <a:spcPts val="0"/>
              </a:spcBef>
              <a:spcAft>
                <a:spcPts val="0"/>
              </a:spcAft>
              <a:buNone/>
            </a:pPr>
            <a:r>
              <a:rPr lang="en" b="1"/>
              <a:t>PRT</a:t>
            </a:r>
            <a:r>
              <a:rPr lang="en"/>
              <a:t>- Portugal, </a:t>
            </a:r>
            <a:r>
              <a:rPr lang="en" b="1"/>
              <a:t>GBR</a:t>
            </a:r>
            <a:r>
              <a:rPr lang="en"/>
              <a:t>- United Kingdom, </a:t>
            </a:r>
            <a:r>
              <a:rPr lang="en" b="1"/>
              <a:t>FRA</a:t>
            </a:r>
            <a:r>
              <a:rPr lang="en"/>
              <a:t>- France, </a:t>
            </a:r>
            <a:r>
              <a:rPr lang="en" b="1"/>
              <a:t>ESP</a:t>
            </a:r>
            <a:r>
              <a:rPr lang="en"/>
              <a:t>- Spain, </a:t>
            </a:r>
            <a:r>
              <a:rPr lang="en" b="1"/>
              <a:t>DEU </a:t>
            </a:r>
            <a:r>
              <a:rPr lang="en"/>
              <a:t>- Germany</a:t>
            </a:r>
            <a:endParaRPr/>
          </a:p>
        </p:txBody>
      </p:sp>
      <p:pic>
        <p:nvPicPr>
          <p:cNvPr id="194" name="Google Shape;194;p31"/>
          <p:cNvPicPr preferRelativeResize="0"/>
          <p:nvPr/>
        </p:nvPicPr>
        <p:blipFill rotWithShape="1">
          <a:blip r:embed="rId3">
            <a:alphaModFix/>
          </a:blip>
          <a:srcRect r="-5351"/>
          <a:stretch/>
        </p:blipFill>
        <p:spPr>
          <a:xfrm>
            <a:off x="224725" y="927525"/>
            <a:ext cx="4004599" cy="3187275"/>
          </a:xfrm>
          <a:prstGeom prst="rect">
            <a:avLst/>
          </a:prstGeom>
          <a:noFill/>
          <a:ln>
            <a:noFill/>
          </a:ln>
        </p:spPr>
      </p:pic>
      <p:pic>
        <p:nvPicPr>
          <p:cNvPr id="195" name="Google Shape;195;p31"/>
          <p:cNvPicPr preferRelativeResize="0"/>
          <p:nvPr/>
        </p:nvPicPr>
        <p:blipFill>
          <a:blip r:embed="rId4">
            <a:alphaModFix/>
          </a:blip>
          <a:stretch>
            <a:fillRect/>
          </a:stretch>
        </p:blipFill>
        <p:spPr>
          <a:xfrm>
            <a:off x="4510025" y="1023000"/>
            <a:ext cx="4067174" cy="2714625"/>
          </a:xfrm>
          <a:prstGeom prst="rect">
            <a:avLst/>
          </a:prstGeom>
          <a:noFill/>
          <a:ln>
            <a:noFill/>
          </a:ln>
        </p:spPr>
      </p:pic>
      <p:pic>
        <p:nvPicPr>
          <p:cNvPr id="196" name="Google Shape;196;p31"/>
          <p:cNvPicPr preferRelativeResize="0"/>
          <p:nvPr/>
        </p:nvPicPr>
        <p:blipFill>
          <a:blip r:embed="rId5">
            <a:alphaModFix/>
          </a:blip>
          <a:stretch>
            <a:fillRect/>
          </a:stretch>
        </p:blipFill>
        <p:spPr>
          <a:xfrm>
            <a:off x="8577200" y="1053425"/>
            <a:ext cx="504825" cy="2653775"/>
          </a:xfrm>
          <a:prstGeom prst="rect">
            <a:avLst/>
          </a:prstGeom>
          <a:noFill/>
          <a:ln>
            <a:noFill/>
          </a:ln>
        </p:spPr>
      </p:pic>
      <p:pic>
        <p:nvPicPr>
          <p:cNvPr id="197" name="Google Shape;197;p31"/>
          <p:cNvPicPr preferRelativeResize="0"/>
          <p:nvPr/>
        </p:nvPicPr>
        <p:blipFill>
          <a:blip r:embed="rId6">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
                                        </p:tgtEl>
                                        <p:attrNameLst>
                                          <p:attrName>style.visibility</p:attrName>
                                        </p:attrNameLst>
                                      </p:cBhvr>
                                      <p:to>
                                        <p:strVal val="visible"/>
                                      </p:to>
                                    </p:set>
                                    <p:animEffect transition="in" filter="fade">
                                      <p:cBhvr>
                                        <p:cTn id="7" dur="1000"/>
                                        <p:tgtEl>
                                          <p:spTgt spid="1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5"/>
                                        </p:tgtEl>
                                        <p:attrNameLst>
                                          <p:attrName>style.visibility</p:attrName>
                                        </p:attrNameLst>
                                      </p:cBhvr>
                                      <p:to>
                                        <p:strVal val="visible"/>
                                      </p:to>
                                    </p:set>
                                    <p:animEffect transition="in" filter="fade">
                                      <p:cBhvr>
                                        <p:cTn id="12" dur="1000"/>
                                        <p:tgtEl>
                                          <p:spTgt spid="19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3"/>
                                        </p:tgtEl>
                                        <p:attrNameLst>
                                          <p:attrName>style.visibility</p:attrName>
                                        </p:attrNameLst>
                                      </p:cBhvr>
                                      <p:to>
                                        <p:strVal val="visible"/>
                                      </p:to>
                                    </p:set>
                                    <p:animEffect transition="in" filter="fade">
                                      <p:cBhvr>
                                        <p:cTn id="17" dur="1000"/>
                                        <p:tgtEl>
                                          <p:spTgt spid="1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2"/>
          <p:cNvSpPr txBox="1">
            <a:spLocks noGrp="1"/>
          </p:cNvSpPr>
          <p:nvPr>
            <p:ph type="title"/>
          </p:nvPr>
        </p:nvSpPr>
        <p:spPr>
          <a:xfrm>
            <a:off x="19990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Data Visualization</a:t>
            </a:r>
            <a:endParaRPr b="1" u="sng"/>
          </a:p>
        </p:txBody>
      </p:sp>
      <p:sp>
        <p:nvSpPr>
          <p:cNvPr id="203" name="Google Shape;203;p32"/>
          <p:cNvSpPr txBox="1">
            <a:spLocks noGrp="1"/>
          </p:cNvSpPr>
          <p:nvPr>
            <p:ph type="body" idx="1"/>
          </p:nvPr>
        </p:nvSpPr>
        <p:spPr>
          <a:xfrm>
            <a:off x="199900" y="572700"/>
            <a:ext cx="6707700" cy="6615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1600" b="1">
                <a:solidFill>
                  <a:schemeClr val="dk1"/>
                </a:solidFill>
              </a:rPr>
              <a:t>Which hotel produces maximum revenue?</a:t>
            </a:r>
            <a:endParaRPr sz="1600" b="1">
              <a:solidFill>
                <a:schemeClr val="dk1"/>
              </a:solidFill>
            </a:endParaRPr>
          </a:p>
        </p:txBody>
      </p:sp>
      <p:pic>
        <p:nvPicPr>
          <p:cNvPr id="204" name="Google Shape;204;p32"/>
          <p:cNvPicPr preferRelativeResize="0"/>
          <p:nvPr/>
        </p:nvPicPr>
        <p:blipFill>
          <a:blip r:embed="rId3">
            <a:alphaModFix/>
          </a:blip>
          <a:stretch>
            <a:fillRect/>
          </a:stretch>
        </p:blipFill>
        <p:spPr>
          <a:xfrm>
            <a:off x="304038" y="1135875"/>
            <a:ext cx="5032418" cy="3395550"/>
          </a:xfrm>
          <a:prstGeom prst="rect">
            <a:avLst/>
          </a:prstGeom>
          <a:noFill/>
          <a:ln>
            <a:noFill/>
          </a:ln>
        </p:spPr>
      </p:pic>
      <p:sp>
        <p:nvSpPr>
          <p:cNvPr id="205" name="Google Shape;205;p32"/>
          <p:cNvSpPr txBox="1"/>
          <p:nvPr/>
        </p:nvSpPr>
        <p:spPr>
          <a:xfrm>
            <a:off x="6013175" y="1897550"/>
            <a:ext cx="2982000" cy="1280700"/>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600"/>
              </a:spcBef>
              <a:spcAft>
                <a:spcPts val="0"/>
              </a:spcAft>
              <a:buClr>
                <a:schemeClr val="accent2"/>
              </a:buClr>
              <a:buSzPts val="1600"/>
              <a:buFont typeface="Roboto"/>
              <a:buChar char="●"/>
            </a:pPr>
            <a:r>
              <a:rPr lang="en" sz="1600">
                <a:solidFill>
                  <a:schemeClr val="accent2"/>
                </a:solidFill>
                <a:highlight>
                  <a:srgbClr val="FFFFFF"/>
                </a:highlight>
                <a:latin typeface="Roboto"/>
                <a:ea typeface="Roboto"/>
                <a:cs typeface="Roboto"/>
                <a:sym typeface="Roboto"/>
              </a:rPr>
              <a:t>According to the above figure, </a:t>
            </a:r>
            <a:r>
              <a:rPr lang="en" sz="1600" b="1">
                <a:solidFill>
                  <a:schemeClr val="accent2"/>
                </a:solidFill>
                <a:highlight>
                  <a:srgbClr val="FFFFFF"/>
                </a:highlight>
                <a:latin typeface="Roboto"/>
                <a:ea typeface="Roboto"/>
                <a:cs typeface="Roboto"/>
                <a:sym typeface="Roboto"/>
              </a:rPr>
              <a:t>City hotel </a:t>
            </a:r>
            <a:r>
              <a:rPr lang="en" sz="1600">
                <a:solidFill>
                  <a:schemeClr val="accent2"/>
                </a:solidFill>
                <a:highlight>
                  <a:srgbClr val="FFFFFF"/>
                </a:highlight>
                <a:latin typeface="Roboto"/>
                <a:ea typeface="Roboto"/>
                <a:cs typeface="Roboto"/>
                <a:sym typeface="Roboto"/>
              </a:rPr>
              <a:t>has more average revenue than resort hotel</a:t>
            </a:r>
            <a:endParaRPr sz="1600">
              <a:solidFill>
                <a:schemeClr val="accent2"/>
              </a:solidFill>
              <a:highlight>
                <a:srgbClr val="FFFFFF"/>
              </a:highlight>
              <a:latin typeface="Roboto"/>
              <a:ea typeface="Roboto"/>
              <a:cs typeface="Roboto"/>
              <a:sym typeface="Roboto"/>
            </a:endParaRPr>
          </a:p>
        </p:txBody>
      </p:sp>
      <p:pic>
        <p:nvPicPr>
          <p:cNvPr id="206" name="Google Shape;206;p32"/>
          <p:cNvPicPr preferRelativeResize="0"/>
          <p:nvPr/>
        </p:nvPicPr>
        <p:blipFill>
          <a:blip r:embed="rId4">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4"/>
                                        </p:tgtEl>
                                        <p:attrNameLst>
                                          <p:attrName>style.visibility</p:attrName>
                                        </p:attrNameLst>
                                      </p:cBhvr>
                                      <p:to>
                                        <p:strVal val="visible"/>
                                      </p:to>
                                    </p:set>
                                    <p:animEffect transition="in" filter="fade">
                                      <p:cBhvr>
                                        <p:cTn id="7" dur="1000"/>
                                        <p:tgtEl>
                                          <p:spTgt spid="20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
                                        </p:tgtEl>
                                        <p:attrNameLst>
                                          <p:attrName>style.visibility</p:attrName>
                                        </p:attrNameLst>
                                      </p:cBhvr>
                                      <p:to>
                                        <p:strVal val="visible"/>
                                      </p:to>
                                    </p:set>
                                    <p:animEffect transition="in" filter="fade">
                                      <p:cBhvr>
                                        <p:cTn id="12" dur="1000"/>
                                        <p:tgtEl>
                                          <p:spTgt spid="2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3"/>
          <p:cNvSpPr txBox="1">
            <a:spLocks noGrp="1"/>
          </p:cNvSpPr>
          <p:nvPr>
            <p:ph type="title"/>
          </p:nvPr>
        </p:nvSpPr>
        <p:spPr>
          <a:xfrm>
            <a:off x="203525"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u="sng"/>
              <a:t>Data Visualization</a:t>
            </a:r>
            <a:endParaRPr b="1" u="sng"/>
          </a:p>
          <a:p>
            <a:pPr marL="0" lvl="0" indent="0" algn="l" rtl="0">
              <a:spcBef>
                <a:spcPts val="0"/>
              </a:spcBef>
              <a:spcAft>
                <a:spcPts val="0"/>
              </a:spcAft>
              <a:buNone/>
            </a:pPr>
            <a:endParaRPr/>
          </a:p>
        </p:txBody>
      </p:sp>
      <p:sp>
        <p:nvSpPr>
          <p:cNvPr id="212" name="Google Shape;212;p33"/>
          <p:cNvSpPr txBox="1">
            <a:spLocks noGrp="1"/>
          </p:cNvSpPr>
          <p:nvPr>
            <p:ph type="body" idx="1"/>
          </p:nvPr>
        </p:nvSpPr>
        <p:spPr>
          <a:xfrm>
            <a:off x="203525" y="494025"/>
            <a:ext cx="8520600" cy="465600"/>
          </a:xfrm>
          <a:prstGeom prst="rect">
            <a:avLst/>
          </a:prstGeom>
        </p:spPr>
        <p:txBody>
          <a:bodyPr spcFirstLastPara="1" wrap="square" lIns="91425" tIns="91425" rIns="91425" bIns="91425" anchor="t" anchorCtr="0">
            <a:normAutofit/>
          </a:bodyPr>
          <a:lstStyle/>
          <a:p>
            <a:pPr marL="0" lvl="0" indent="0" algn="l" rtl="0">
              <a:spcBef>
                <a:spcPts val="900"/>
              </a:spcBef>
              <a:spcAft>
                <a:spcPts val="900"/>
              </a:spcAft>
              <a:buNone/>
            </a:pPr>
            <a:r>
              <a:rPr lang="en" sz="1750">
                <a:solidFill>
                  <a:schemeClr val="accent2"/>
                </a:solidFill>
                <a:highlight>
                  <a:srgbClr val="FFFFFF"/>
                </a:highlight>
                <a:latin typeface="Roboto"/>
                <a:ea typeface="Roboto"/>
                <a:cs typeface="Roboto"/>
                <a:sym typeface="Roboto"/>
              </a:rPr>
              <a:t>Let's find out the reason for cancelling of Hotels:</a:t>
            </a:r>
            <a:endParaRPr sz="1600"/>
          </a:p>
        </p:txBody>
      </p:sp>
      <p:pic>
        <p:nvPicPr>
          <p:cNvPr id="213" name="Google Shape;213;p33"/>
          <p:cNvPicPr preferRelativeResize="0"/>
          <p:nvPr/>
        </p:nvPicPr>
        <p:blipFill>
          <a:blip r:embed="rId3">
            <a:alphaModFix/>
          </a:blip>
          <a:stretch>
            <a:fillRect/>
          </a:stretch>
        </p:blipFill>
        <p:spPr>
          <a:xfrm>
            <a:off x="8361517" y="-8"/>
            <a:ext cx="782475" cy="782475"/>
          </a:xfrm>
          <a:prstGeom prst="rect">
            <a:avLst/>
          </a:prstGeom>
          <a:noFill/>
          <a:ln>
            <a:noFill/>
          </a:ln>
        </p:spPr>
      </p:pic>
      <p:pic>
        <p:nvPicPr>
          <p:cNvPr id="214" name="Google Shape;214;p33"/>
          <p:cNvPicPr preferRelativeResize="0"/>
          <p:nvPr/>
        </p:nvPicPr>
        <p:blipFill>
          <a:blip r:embed="rId4">
            <a:alphaModFix/>
          </a:blip>
          <a:stretch>
            <a:fillRect/>
          </a:stretch>
        </p:blipFill>
        <p:spPr>
          <a:xfrm>
            <a:off x="2669625" y="909638"/>
            <a:ext cx="3181350" cy="3324225"/>
          </a:xfrm>
          <a:prstGeom prst="rect">
            <a:avLst/>
          </a:prstGeom>
          <a:noFill/>
          <a:ln>
            <a:noFill/>
          </a:ln>
        </p:spPr>
      </p:pic>
      <p:sp>
        <p:nvSpPr>
          <p:cNvPr id="215" name="Google Shape;215;p33"/>
          <p:cNvSpPr txBox="1"/>
          <p:nvPr/>
        </p:nvSpPr>
        <p:spPr>
          <a:xfrm>
            <a:off x="125" y="4391300"/>
            <a:ext cx="9144000" cy="6480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600"/>
              </a:spcBef>
              <a:spcAft>
                <a:spcPts val="0"/>
              </a:spcAft>
              <a:buClr>
                <a:schemeClr val="accent2"/>
              </a:buClr>
              <a:buSzPts val="1400"/>
              <a:buFont typeface="Roboto"/>
              <a:buChar char="●"/>
            </a:pPr>
            <a:r>
              <a:rPr lang="en">
                <a:solidFill>
                  <a:schemeClr val="accent2"/>
                </a:solidFill>
                <a:highlight>
                  <a:srgbClr val="FFFFFF"/>
                </a:highlight>
                <a:latin typeface="Roboto"/>
                <a:ea typeface="Roboto"/>
                <a:cs typeface="Roboto"/>
                <a:sym typeface="Roboto"/>
              </a:rPr>
              <a:t>Majority of the booking does not require deposit. That could explain why cancellation rate was actually 50% of non-cancellation rate.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4"/>
                                        </p:tgtEl>
                                        <p:attrNameLst>
                                          <p:attrName>style.visibility</p:attrName>
                                        </p:attrNameLst>
                                      </p:cBhvr>
                                      <p:to>
                                        <p:strVal val="visible"/>
                                      </p:to>
                                    </p:set>
                                    <p:animEffect transition="in" filter="fade">
                                      <p:cBhvr>
                                        <p:cTn id="7" dur="1000"/>
                                        <p:tgtEl>
                                          <p:spTgt spid="2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5"/>
                                        </p:tgtEl>
                                        <p:attrNameLst>
                                          <p:attrName>style.visibility</p:attrName>
                                        </p:attrNameLst>
                                      </p:cBhvr>
                                      <p:to>
                                        <p:strVal val="visible"/>
                                      </p:to>
                                    </p:set>
                                    <p:animEffect transition="in" filter="fade">
                                      <p:cBhvr>
                                        <p:cTn id="12" dur="1000"/>
                                        <p:tgtEl>
                                          <p:spTgt spid="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4"/>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2500" b="1" u="sng"/>
              <a:t>Data Visualization</a:t>
            </a:r>
            <a:endParaRPr sz="2500" b="1" u="sng"/>
          </a:p>
        </p:txBody>
      </p:sp>
      <p:sp>
        <p:nvSpPr>
          <p:cNvPr id="221" name="Google Shape;221;p34"/>
          <p:cNvSpPr txBox="1">
            <a:spLocks noGrp="1"/>
          </p:cNvSpPr>
          <p:nvPr>
            <p:ph type="body" idx="1"/>
          </p:nvPr>
        </p:nvSpPr>
        <p:spPr>
          <a:xfrm>
            <a:off x="311700" y="514150"/>
            <a:ext cx="8520600" cy="492600"/>
          </a:xfrm>
          <a:prstGeom prst="rect">
            <a:avLst/>
          </a:prstGeom>
        </p:spPr>
        <p:txBody>
          <a:bodyPr spcFirstLastPara="1" wrap="square" lIns="91425" tIns="91425" rIns="91425" bIns="91425" anchor="t" anchorCtr="0">
            <a:normAutofit fontScale="25000" lnSpcReduction="20000"/>
          </a:bodyPr>
          <a:lstStyle/>
          <a:p>
            <a:pPr marL="0" lvl="0" indent="0" algn="l" rtl="0">
              <a:spcBef>
                <a:spcPts val="1200"/>
              </a:spcBef>
              <a:spcAft>
                <a:spcPts val="0"/>
              </a:spcAft>
              <a:buClr>
                <a:schemeClr val="dk1"/>
              </a:buClr>
              <a:buSzPts val="275"/>
              <a:buFont typeface="Arial"/>
              <a:buNone/>
            </a:pPr>
            <a:r>
              <a:rPr lang="en" sz="6750" b="1">
                <a:solidFill>
                  <a:schemeClr val="accent2"/>
                </a:solidFill>
                <a:highlight>
                  <a:srgbClr val="FFFFFF"/>
                </a:highlight>
                <a:latin typeface="Roboto"/>
                <a:ea typeface="Roboto"/>
                <a:cs typeface="Roboto"/>
                <a:sym typeface="Roboto"/>
              </a:rPr>
              <a:t>Which form of distribution do customers prefer most?</a:t>
            </a:r>
            <a:endParaRPr sz="6750" b="1">
              <a:solidFill>
                <a:schemeClr val="accent2"/>
              </a:solidFill>
              <a:highlight>
                <a:srgbClr val="FFFFFF"/>
              </a:highlight>
              <a:latin typeface="Roboto"/>
              <a:ea typeface="Roboto"/>
              <a:cs typeface="Roboto"/>
              <a:sym typeface="Roboto"/>
            </a:endParaRPr>
          </a:p>
          <a:p>
            <a:pPr marL="0" lvl="0" indent="0" algn="l" rtl="0">
              <a:spcBef>
                <a:spcPts val="1200"/>
              </a:spcBef>
              <a:spcAft>
                <a:spcPts val="1200"/>
              </a:spcAft>
              <a:buNone/>
            </a:pPr>
            <a:endParaRPr/>
          </a:p>
        </p:txBody>
      </p:sp>
      <p:sp>
        <p:nvSpPr>
          <p:cNvPr id="222" name="Google Shape;222;p34"/>
          <p:cNvSpPr txBox="1"/>
          <p:nvPr/>
        </p:nvSpPr>
        <p:spPr>
          <a:xfrm>
            <a:off x="5832300" y="1694050"/>
            <a:ext cx="3000000" cy="2413500"/>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600"/>
              </a:spcBef>
              <a:spcAft>
                <a:spcPts val="0"/>
              </a:spcAft>
              <a:buClr>
                <a:schemeClr val="accent2"/>
              </a:buClr>
              <a:buSzPts val="1600"/>
              <a:buFont typeface="Roboto"/>
              <a:buChar char="●"/>
            </a:pPr>
            <a:r>
              <a:rPr lang="en" sz="1600">
                <a:solidFill>
                  <a:schemeClr val="accent2"/>
                </a:solidFill>
                <a:highlight>
                  <a:srgbClr val="FFFFFF"/>
                </a:highlight>
                <a:latin typeface="Roboto"/>
                <a:ea typeface="Roboto"/>
                <a:cs typeface="Roboto"/>
                <a:sym typeface="Roboto"/>
              </a:rPr>
              <a:t>TA/TO are the customers' chosen distribution channels.</a:t>
            </a:r>
            <a:endParaRPr sz="1600">
              <a:solidFill>
                <a:schemeClr val="accent2"/>
              </a:solidFill>
              <a:highlight>
                <a:srgbClr val="FFFFFF"/>
              </a:highlight>
              <a:latin typeface="Roboto"/>
              <a:ea typeface="Roboto"/>
              <a:cs typeface="Roboto"/>
              <a:sym typeface="Roboto"/>
            </a:endParaRPr>
          </a:p>
          <a:p>
            <a:pPr marL="457200" lvl="0" indent="-330200" algn="l" rtl="0">
              <a:lnSpc>
                <a:spcPct val="115000"/>
              </a:lnSpc>
              <a:spcBef>
                <a:spcPts val="0"/>
              </a:spcBef>
              <a:spcAft>
                <a:spcPts val="0"/>
              </a:spcAft>
              <a:buClr>
                <a:schemeClr val="accent2"/>
              </a:buClr>
              <a:buSzPts val="1600"/>
              <a:buFont typeface="Roboto"/>
              <a:buChar char="●"/>
            </a:pPr>
            <a:r>
              <a:rPr lang="en" sz="1600">
                <a:solidFill>
                  <a:schemeClr val="accent2"/>
                </a:solidFill>
                <a:highlight>
                  <a:srgbClr val="FFFFFF"/>
                </a:highlight>
                <a:latin typeface="Roboto"/>
                <a:ea typeface="Roboto"/>
                <a:cs typeface="Roboto"/>
                <a:sym typeface="Roboto"/>
              </a:rPr>
              <a:t>In order to grow their business, hotels might partner with these agents and operators or promote using them as a medium.</a:t>
            </a:r>
            <a:endParaRPr sz="1600">
              <a:solidFill>
                <a:schemeClr val="accent2"/>
              </a:solidFill>
              <a:highlight>
                <a:srgbClr val="FFFFFF"/>
              </a:highlight>
              <a:latin typeface="Roboto"/>
              <a:ea typeface="Roboto"/>
              <a:cs typeface="Roboto"/>
              <a:sym typeface="Roboto"/>
            </a:endParaRPr>
          </a:p>
        </p:txBody>
      </p:sp>
      <p:pic>
        <p:nvPicPr>
          <p:cNvPr id="223" name="Google Shape;223;p34"/>
          <p:cNvPicPr preferRelativeResize="0"/>
          <p:nvPr/>
        </p:nvPicPr>
        <p:blipFill>
          <a:blip r:embed="rId3">
            <a:alphaModFix/>
          </a:blip>
          <a:stretch>
            <a:fillRect/>
          </a:stretch>
        </p:blipFill>
        <p:spPr>
          <a:xfrm>
            <a:off x="0" y="1006750"/>
            <a:ext cx="5832300" cy="41367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3"/>
                                        </p:tgtEl>
                                        <p:attrNameLst>
                                          <p:attrName>style.visibility</p:attrName>
                                        </p:attrNameLst>
                                      </p:cBhvr>
                                      <p:to>
                                        <p:strVal val="visible"/>
                                      </p:to>
                                    </p:set>
                                    <p:animEffect transition="in" filter="fade">
                                      <p:cBhvr>
                                        <p:cTn id="7" dur="1000"/>
                                        <p:tgtEl>
                                          <p:spTgt spid="2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2"/>
                                        </p:tgtEl>
                                        <p:attrNameLst>
                                          <p:attrName>style.visibility</p:attrName>
                                        </p:attrNameLst>
                                      </p:cBhvr>
                                      <p:to>
                                        <p:strVal val="visible"/>
                                      </p:to>
                                    </p:set>
                                    <p:animEffect transition="in" filter="fade">
                                      <p:cBhvr>
                                        <p:cTn id="12" dur="1000"/>
                                        <p:tgtEl>
                                          <p:spTgt spid="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5"/>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a:bodyPr>
          <a:lstStyle/>
          <a:p>
            <a:pPr marL="76200" marR="38100" lvl="0" indent="0" algn="l" rtl="0">
              <a:lnSpc>
                <a:spcPct val="115000"/>
              </a:lnSpc>
              <a:spcBef>
                <a:spcPts val="600"/>
              </a:spcBef>
              <a:spcAft>
                <a:spcPts val="500"/>
              </a:spcAft>
              <a:buClr>
                <a:schemeClr val="dk1"/>
              </a:buClr>
              <a:buSzPts val="1100"/>
              <a:buFont typeface="Arial"/>
              <a:buNone/>
            </a:pPr>
            <a:r>
              <a:rPr lang="en" sz="2500" b="1">
                <a:solidFill>
                  <a:schemeClr val="accent2"/>
                </a:solidFill>
                <a:latin typeface="Roboto"/>
                <a:ea typeface="Roboto"/>
                <a:cs typeface="Roboto"/>
                <a:sym typeface="Roboto"/>
              </a:rPr>
              <a:t>What is the booking rate according to the population?</a:t>
            </a:r>
            <a:endParaRPr sz="2500" b="1"/>
          </a:p>
        </p:txBody>
      </p:sp>
      <p:sp>
        <p:nvSpPr>
          <p:cNvPr id="229" name="Google Shape;229;p35"/>
          <p:cNvSpPr txBox="1">
            <a:spLocks noGrp="1"/>
          </p:cNvSpPr>
          <p:nvPr>
            <p:ph type="body" idx="1"/>
          </p:nvPr>
        </p:nvSpPr>
        <p:spPr>
          <a:xfrm>
            <a:off x="311700" y="4127172"/>
            <a:ext cx="8520600" cy="1016400"/>
          </a:xfrm>
          <a:prstGeom prst="rect">
            <a:avLst/>
          </a:prstGeom>
        </p:spPr>
        <p:txBody>
          <a:bodyPr spcFirstLastPara="1" wrap="square" lIns="91425" tIns="91425" rIns="91425" bIns="91425" anchor="t" anchorCtr="0">
            <a:normAutofit/>
          </a:bodyPr>
          <a:lstStyle/>
          <a:p>
            <a:pPr marL="457200" lvl="0" indent="-317500" algn="l" rtl="0">
              <a:spcBef>
                <a:spcPts val="600"/>
              </a:spcBef>
              <a:spcAft>
                <a:spcPts val="0"/>
              </a:spcAft>
              <a:buClr>
                <a:schemeClr val="accent2"/>
              </a:buClr>
              <a:buSzPts val="1400"/>
              <a:buFont typeface="Roboto"/>
              <a:buChar char="●"/>
            </a:pPr>
            <a:r>
              <a:rPr lang="en" sz="1400" b="1">
                <a:solidFill>
                  <a:schemeClr val="accent2"/>
                </a:solidFill>
                <a:highlight>
                  <a:srgbClr val="FFFFFF"/>
                </a:highlight>
                <a:latin typeface="Roboto"/>
                <a:ea typeface="Roboto"/>
                <a:cs typeface="Roboto"/>
                <a:sym typeface="Roboto"/>
              </a:rPr>
              <a:t>Resort hotels</a:t>
            </a:r>
            <a:r>
              <a:rPr lang="en" sz="1400">
                <a:solidFill>
                  <a:schemeClr val="accent2"/>
                </a:solidFill>
                <a:highlight>
                  <a:srgbClr val="FFFFFF"/>
                </a:highlight>
                <a:latin typeface="Roboto"/>
                <a:ea typeface="Roboto"/>
                <a:cs typeface="Roboto"/>
                <a:sym typeface="Roboto"/>
              </a:rPr>
              <a:t> are better choice for large families having babies.</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It seems that majority of the visitors who travel in pair, prefer </a:t>
            </a:r>
            <a:r>
              <a:rPr lang="en" sz="1400" b="1">
                <a:solidFill>
                  <a:schemeClr val="accent2"/>
                </a:solidFill>
                <a:highlight>
                  <a:srgbClr val="FFFFFF"/>
                </a:highlight>
                <a:latin typeface="Roboto"/>
                <a:ea typeface="Roboto"/>
                <a:cs typeface="Roboto"/>
                <a:sym typeface="Roboto"/>
              </a:rPr>
              <a:t>City hotels</a:t>
            </a:r>
            <a:r>
              <a:rPr lang="en" sz="1400">
                <a:solidFill>
                  <a:schemeClr val="accent2"/>
                </a:solidFill>
                <a:highlight>
                  <a:srgbClr val="FFFFFF"/>
                </a:highlight>
                <a:latin typeface="Roboto"/>
                <a:ea typeface="Roboto"/>
                <a:cs typeface="Roboto"/>
                <a:sym typeface="Roboto"/>
              </a:rPr>
              <a:t>.</a:t>
            </a:r>
            <a:endParaRPr sz="2000"/>
          </a:p>
        </p:txBody>
      </p:sp>
      <p:pic>
        <p:nvPicPr>
          <p:cNvPr id="230" name="Google Shape;230;p35"/>
          <p:cNvPicPr preferRelativeResize="0"/>
          <p:nvPr/>
        </p:nvPicPr>
        <p:blipFill>
          <a:blip r:embed="rId3">
            <a:alphaModFix/>
          </a:blip>
          <a:stretch>
            <a:fillRect/>
          </a:stretch>
        </p:blipFill>
        <p:spPr>
          <a:xfrm>
            <a:off x="-1" y="572700"/>
            <a:ext cx="3123275" cy="2809875"/>
          </a:xfrm>
          <a:prstGeom prst="rect">
            <a:avLst/>
          </a:prstGeom>
          <a:noFill/>
          <a:ln>
            <a:noFill/>
          </a:ln>
        </p:spPr>
      </p:pic>
      <p:pic>
        <p:nvPicPr>
          <p:cNvPr id="231" name="Google Shape;231;p35"/>
          <p:cNvPicPr preferRelativeResize="0"/>
          <p:nvPr/>
        </p:nvPicPr>
        <p:blipFill>
          <a:blip r:embed="rId4">
            <a:alphaModFix/>
          </a:blip>
          <a:stretch>
            <a:fillRect/>
          </a:stretch>
        </p:blipFill>
        <p:spPr>
          <a:xfrm>
            <a:off x="6107475" y="572700"/>
            <a:ext cx="3036975" cy="2667000"/>
          </a:xfrm>
          <a:prstGeom prst="rect">
            <a:avLst/>
          </a:prstGeom>
          <a:noFill/>
          <a:ln>
            <a:noFill/>
          </a:ln>
        </p:spPr>
      </p:pic>
      <p:pic>
        <p:nvPicPr>
          <p:cNvPr id="232" name="Google Shape;232;p35"/>
          <p:cNvPicPr preferRelativeResize="0"/>
          <p:nvPr/>
        </p:nvPicPr>
        <p:blipFill>
          <a:blip r:embed="rId5">
            <a:alphaModFix/>
          </a:blip>
          <a:stretch>
            <a:fillRect/>
          </a:stretch>
        </p:blipFill>
        <p:spPr>
          <a:xfrm>
            <a:off x="3078525" y="1360775"/>
            <a:ext cx="2986950" cy="2600325"/>
          </a:xfrm>
          <a:prstGeom prst="rect">
            <a:avLst/>
          </a:prstGeom>
          <a:noFill/>
          <a:ln>
            <a:noFill/>
          </a:ln>
        </p:spPr>
      </p:pic>
      <p:pic>
        <p:nvPicPr>
          <p:cNvPr id="233" name="Google Shape;233;p35"/>
          <p:cNvPicPr preferRelativeResize="0"/>
          <p:nvPr/>
        </p:nvPicPr>
        <p:blipFill>
          <a:blip r:embed="rId6">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0"/>
                                        </p:tgtEl>
                                        <p:attrNameLst>
                                          <p:attrName>style.visibility</p:attrName>
                                        </p:attrNameLst>
                                      </p:cBhvr>
                                      <p:to>
                                        <p:strVal val="visible"/>
                                      </p:to>
                                    </p:set>
                                    <p:animEffect transition="in" filter="fade">
                                      <p:cBhvr>
                                        <p:cTn id="7" dur="1000"/>
                                        <p:tgtEl>
                                          <p:spTgt spid="230"/>
                                        </p:tgtEl>
                                      </p:cBhvr>
                                    </p:animEffect>
                                  </p:childTnLst>
                                </p:cTn>
                              </p:par>
                              <p:par>
                                <p:cTn id="8" presetID="10" presetClass="entr" presetSubtype="0" fill="hold" nodeType="withEffect">
                                  <p:stCondLst>
                                    <p:cond delay="0"/>
                                  </p:stCondLst>
                                  <p:childTnLst>
                                    <p:set>
                                      <p:cBhvr>
                                        <p:cTn id="9" dur="1" fill="hold">
                                          <p:stCondLst>
                                            <p:cond delay="0"/>
                                          </p:stCondLst>
                                        </p:cTn>
                                        <p:tgtEl>
                                          <p:spTgt spid="232"/>
                                        </p:tgtEl>
                                        <p:attrNameLst>
                                          <p:attrName>style.visibility</p:attrName>
                                        </p:attrNameLst>
                                      </p:cBhvr>
                                      <p:to>
                                        <p:strVal val="visible"/>
                                      </p:to>
                                    </p:set>
                                    <p:animEffect transition="in" filter="fade">
                                      <p:cBhvr>
                                        <p:cTn id="10" dur="1000"/>
                                        <p:tgtEl>
                                          <p:spTgt spid="232"/>
                                        </p:tgtEl>
                                      </p:cBhvr>
                                    </p:animEffect>
                                  </p:childTnLst>
                                </p:cTn>
                              </p:par>
                              <p:par>
                                <p:cTn id="11" presetID="10" presetClass="entr" presetSubtype="0" fill="hold" nodeType="withEffect">
                                  <p:stCondLst>
                                    <p:cond delay="0"/>
                                  </p:stCondLst>
                                  <p:childTnLst>
                                    <p:set>
                                      <p:cBhvr>
                                        <p:cTn id="12" dur="1" fill="hold">
                                          <p:stCondLst>
                                            <p:cond delay="0"/>
                                          </p:stCondLst>
                                        </p:cTn>
                                        <p:tgtEl>
                                          <p:spTgt spid="231"/>
                                        </p:tgtEl>
                                        <p:attrNameLst>
                                          <p:attrName>style.visibility</p:attrName>
                                        </p:attrNameLst>
                                      </p:cBhvr>
                                      <p:to>
                                        <p:strVal val="visible"/>
                                      </p:to>
                                    </p:set>
                                    <p:animEffect transition="in" filter="fade">
                                      <p:cBhvr>
                                        <p:cTn id="13" dur="1000"/>
                                        <p:tgtEl>
                                          <p:spTgt spid="23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29"/>
                                        </p:tgtEl>
                                        <p:attrNameLst>
                                          <p:attrName>style.visibility</p:attrName>
                                        </p:attrNameLst>
                                      </p:cBhvr>
                                      <p:to>
                                        <p:strVal val="visible"/>
                                      </p:to>
                                    </p:set>
                                    <p:animEffect transition="in" filter="fade">
                                      <p:cBhvr>
                                        <p:cTn id="18" dur="1000"/>
                                        <p:tgtEl>
                                          <p:spTgt spid="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6"/>
          <p:cNvSpPr txBox="1">
            <a:spLocks noGrp="1"/>
          </p:cNvSpPr>
          <p:nvPr>
            <p:ph type="title"/>
          </p:nvPr>
        </p:nvSpPr>
        <p:spPr>
          <a:xfrm>
            <a:off x="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u="sng"/>
              <a:t>Data Visualization</a:t>
            </a:r>
            <a:endParaRPr b="1" u="sng"/>
          </a:p>
        </p:txBody>
      </p:sp>
      <p:sp>
        <p:nvSpPr>
          <p:cNvPr id="239" name="Google Shape;239;p36"/>
          <p:cNvSpPr txBox="1">
            <a:spLocks noGrp="1"/>
          </p:cNvSpPr>
          <p:nvPr>
            <p:ph type="body" idx="1"/>
          </p:nvPr>
        </p:nvSpPr>
        <p:spPr>
          <a:xfrm>
            <a:off x="125350" y="572700"/>
            <a:ext cx="8520600" cy="512400"/>
          </a:xfrm>
          <a:prstGeom prst="rect">
            <a:avLst/>
          </a:prstGeom>
        </p:spPr>
        <p:txBody>
          <a:bodyPr spcFirstLastPara="1" wrap="square" lIns="91425" tIns="91425" rIns="91425" bIns="91425" anchor="t" anchorCtr="0">
            <a:normAutofit fontScale="25000" lnSpcReduction="20000"/>
          </a:bodyPr>
          <a:lstStyle/>
          <a:p>
            <a:pPr marL="0" lvl="0" indent="0" algn="l" rtl="0">
              <a:spcBef>
                <a:spcPts val="900"/>
              </a:spcBef>
              <a:spcAft>
                <a:spcPts val="0"/>
              </a:spcAft>
              <a:buClr>
                <a:schemeClr val="dk1"/>
              </a:buClr>
              <a:buSzPts val="275"/>
              <a:buFont typeface="Arial"/>
              <a:buNone/>
            </a:pPr>
            <a:r>
              <a:rPr lang="en" sz="7323">
                <a:solidFill>
                  <a:schemeClr val="accent2"/>
                </a:solidFill>
                <a:highlight>
                  <a:srgbClr val="FFFFFF"/>
                </a:highlight>
              </a:rPr>
              <a:t>Which room type has the highest average daily rate?</a:t>
            </a:r>
            <a:endParaRPr sz="7323">
              <a:solidFill>
                <a:schemeClr val="accent2"/>
              </a:solidFill>
              <a:highlight>
                <a:srgbClr val="FFFFFF"/>
              </a:highlight>
            </a:endParaRPr>
          </a:p>
          <a:p>
            <a:pPr marL="0" lvl="0" indent="0" algn="l" rtl="0">
              <a:spcBef>
                <a:spcPts val="900"/>
              </a:spcBef>
              <a:spcAft>
                <a:spcPts val="1200"/>
              </a:spcAft>
              <a:buNone/>
            </a:pPr>
            <a:endParaRPr/>
          </a:p>
        </p:txBody>
      </p:sp>
      <p:pic>
        <p:nvPicPr>
          <p:cNvPr id="240" name="Google Shape;240;p36"/>
          <p:cNvPicPr preferRelativeResize="0"/>
          <p:nvPr/>
        </p:nvPicPr>
        <p:blipFill>
          <a:blip r:embed="rId3">
            <a:alphaModFix/>
          </a:blip>
          <a:stretch>
            <a:fillRect/>
          </a:stretch>
        </p:blipFill>
        <p:spPr>
          <a:xfrm>
            <a:off x="125350" y="1403450"/>
            <a:ext cx="5599876" cy="3487525"/>
          </a:xfrm>
          <a:prstGeom prst="rect">
            <a:avLst/>
          </a:prstGeom>
          <a:noFill/>
          <a:ln>
            <a:noFill/>
          </a:ln>
        </p:spPr>
      </p:pic>
      <p:sp>
        <p:nvSpPr>
          <p:cNvPr id="241" name="Google Shape;241;p36"/>
          <p:cNvSpPr txBox="1"/>
          <p:nvPr/>
        </p:nvSpPr>
        <p:spPr>
          <a:xfrm>
            <a:off x="5752275" y="1515725"/>
            <a:ext cx="2696100" cy="15699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Clr>
                <a:schemeClr val="accent2"/>
              </a:buClr>
              <a:buSzPts val="1800"/>
              <a:buFont typeface="Roboto"/>
              <a:buChar char="●"/>
            </a:pPr>
            <a:r>
              <a:rPr lang="en" sz="1800" b="1">
                <a:solidFill>
                  <a:schemeClr val="accent2"/>
                </a:solidFill>
                <a:highlight>
                  <a:srgbClr val="FFFFFF"/>
                </a:highlight>
                <a:latin typeface="Roboto"/>
                <a:ea typeface="Roboto"/>
                <a:cs typeface="Roboto"/>
                <a:sym typeface="Roboto"/>
              </a:rPr>
              <a:t>H type</a:t>
            </a:r>
            <a:r>
              <a:rPr lang="en" sz="1800">
                <a:solidFill>
                  <a:schemeClr val="accent2"/>
                </a:solidFill>
                <a:highlight>
                  <a:srgbClr val="FFFFFF"/>
                </a:highlight>
                <a:latin typeface="Roboto"/>
                <a:ea typeface="Roboto"/>
                <a:cs typeface="Roboto"/>
                <a:sym typeface="Roboto"/>
              </a:rPr>
              <a:t> has the highest Average daily rate followed by G type and F type.</a:t>
            </a:r>
            <a:endParaRPr sz="2000"/>
          </a:p>
        </p:txBody>
      </p:sp>
      <p:pic>
        <p:nvPicPr>
          <p:cNvPr id="242" name="Google Shape;242;p36"/>
          <p:cNvPicPr preferRelativeResize="0"/>
          <p:nvPr/>
        </p:nvPicPr>
        <p:blipFill>
          <a:blip r:embed="rId4">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0"/>
                                        </p:tgtEl>
                                        <p:attrNameLst>
                                          <p:attrName>style.visibility</p:attrName>
                                        </p:attrNameLst>
                                      </p:cBhvr>
                                      <p:to>
                                        <p:strVal val="visible"/>
                                      </p:to>
                                    </p:set>
                                    <p:animEffect transition="in" filter="fade">
                                      <p:cBhvr>
                                        <p:cTn id="7" dur="1000"/>
                                        <p:tgtEl>
                                          <p:spTgt spid="2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1"/>
                                        </p:tgtEl>
                                        <p:attrNameLst>
                                          <p:attrName>style.visibility</p:attrName>
                                        </p:attrNameLst>
                                      </p:cBhvr>
                                      <p:to>
                                        <p:strVal val="visible"/>
                                      </p:to>
                                    </p:set>
                                    <p:animEffect transition="in" filter="fade">
                                      <p:cBhvr>
                                        <p:cTn id="12" dur="1000"/>
                                        <p:tgtEl>
                                          <p:spTgt spid="2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7"/>
          <p:cNvSpPr txBox="1">
            <a:spLocks noGrp="1"/>
          </p:cNvSpPr>
          <p:nvPr>
            <p:ph type="title"/>
          </p:nvPr>
        </p:nvSpPr>
        <p:spPr>
          <a:xfrm>
            <a:off x="311700" y="0"/>
            <a:ext cx="8520600" cy="46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891"/>
              <a:buFont typeface="Arial"/>
              <a:buNone/>
            </a:pPr>
            <a:r>
              <a:rPr lang="en" sz="2488" b="1" u="sng"/>
              <a:t>Data Visualization</a:t>
            </a:r>
            <a:endParaRPr sz="2488" b="1" u="sng"/>
          </a:p>
        </p:txBody>
      </p:sp>
      <p:sp>
        <p:nvSpPr>
          <p:cNvPr id="248" name="Google Shape;248;p37"/>
          <p:cNvSpPr txBox="1">
            <a:spLocks noGrp="1"/>
          </p:cNvSpPr>
          <p:nvPr>
            <p:ph type="body" idx="1"/>
          </p:nvPr>
        </p:nvSpPr>
        <p:spPr>
          <a:xfrm>
            <a:off x="311700" y="342300"/>
            <a:ext cx="8520600" cy="3450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SzPts val="605"/>
              <a:buNone/>
            </a:pPr>
            <a:r>
              <a:rPr lang="en" sz="1490" b="1"/>
              <a:t>From which Channel the guest come in the hotel location?</a:t>
            </a:r>
            <a:endParaRPr sz="1490" b="1"/>
          </a:p>
        </p:txBody>
      </p:sp>
      <p:pic>
        <p:nvPicPr>
          <p:cNvPr id="249" name="Google Shape;249;p37"/>
          <p:cNvPicPr preferRelativeResize="0"/>
          <p:nvPr/>
        </p:nvPicPr>
        <p:blipFill>
          <a:blip r:embed="rId3">
            <a:alphaModFix/>
          </a:blip>
          <a:stretch>
            <a:fillRect/>
          </a:stretch>
        </p:blipFill>
        <p:spPr>
          <a:xfrm>
            <a:off x="0" y="687288"/>
            <a:ext cx="4345576" cy="3629025"/>
          </a:xfrm>
          <a:prstGeom prst="rect">
            <a:avLst/>
          </a:prstGeom>
          <a:noFill/>
          <a:ln>
            <a:noFill/>
          </a:ln>
        </p:spPr>
      </p:pic>
      <p:pic>
        <p:nvPicPr>
          <p:cNvPr id="250" name="Google Shape;250;p37"/>
          <p:cNvPicPr preferRelativeResize="0"/>
          <p:nvPr/>
        </p:nvPicPr>
        <p:blipFill>
          <a:blip r:embed="rId4">
            <a:alphaModFix/>
          </a:blip>
          <a:stretch>
            <a:fillRect/>
          </a:stretch>
        </p:blipFill>
        <p:spPr>
          <a:xfrm>
            <a:off x="4345575" y="716000"/>
            <a:ext cx="4488875" cy="3629025"/>
          </a:xfrm>
          <a:prstGeom prst="rect">
            <a:avLst/>
          </a:prstGeom>
          <a:noFill/>
          <a:ln>
            <a:noFill/>
          </a:ln>
        </p:spPr>
      </p:pic>
      <p:sp>
        <p:nvSpPr>
          <p:cNvPr id="251" name="Google Shape;251;p37"/>
          <p:cNvSpPr txBox="1"/>
          <p:nvPr/>
        </p:nvSpPr>
        <p:spPr>
          <a:xfrm>
            <a:off x="0" y="4349400"/>
            <a:ext cx="8834400" cy="8958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600"/>
              </a:spcBef>
              <a:spcAft>
                <a:spcPts val="0"/>
              </a:spcAft>
              <a:buClr>
                <a:schemeClr val="accent2"/>
              </a:buClr>
              <a:buSzPts val="1400"/>
              <a:buFont typeface="Roboto"/>
              <a:buChar char="●"/>
            </a:pPr>
            <a:r>
              <a:rPr lang="en">
                <a:solidFill>
                  <a:schemeClr val="accent2"/>
                </a:solidFill>
                <a:highlight>
                  <a:srgbClr val="FFFFFF"/>
                </a:highlight>
                <a:latin typeface="Roboto"/>
                <a:ea typeface="Roboto"/>
                <a:cs typeface="Roboto"/>
                <a:sym typeface="Roboto"/>
              </a:rPr>
              <a:t>Majority of the distribution channels and market segments involve </a:t>
            </a:r>
            <a:r>
              <a:rPr lang="en" b="1">
                <a:solidFill>
                  <a:schemeClr val="accent2"/>
                </a:solidFill>
                <a:highlight>
                  <a:srgbClr val="FFFFFF"/>
                </a:highlight>
                <a:latin typeface="Roboto"/>
                <a:ea typeface="Roboto"/>
                <a:cs typeface="Roboto"/>
                <a:sym typeface="Roboto"/>
              </a:rPr>
              <a:t>travel agencies </a:t>
            </a:r>
            <a:r>
              <a:rPr lang="en">
                <a:solidFill>
                  <a:schemeClr val="accent2"/>
                </a:solidFill>
                <a:highlight>
                  <a:srgbClr val="FFFFFF"/>
                </a:highlight>
                <a:latin typeface="Roboto"/>
                <a:ea typeface="Roboto"/>
                <a:cs typeface="Roboto"/>
                <a:sym typeface="Roboto"/>
              </a:rPr>
              <a:t>(online or offline).</a:t>
            </a:r>
            <a:endParaRPr>
              <a:solidFill>
                <a:schemeClr val="accent2"/>
              </a:solidFill>
              <a:highlight>
                <a:srgbClr val="FFFFFF"/>
              </a:highlight>
              <a:latin typeface="Roboto"/>
              <a:ea typeface="Roboto"/>
              <a:cs typeface="Roboto"/>
              <a:sym typeface="Roboto"/>
            </a:endParaRPr>
          </a:p>
          <a:p>
            <a:pPr marL="457200" lvl="0" indent="-317500" algn="l" rtl="0">
              <a:lnSpc>
                <a:spcPct val="115000"/>
              </a:lnSpc>
              <a:spcBef>
                <a:spcPts val="0"/>
              </a:spcBef>
              <a:spcAft>
                <a:spcPts val="0"/>
              </a:spcAft>
              <a:buClr>
                <a:schemeClr val="accent2"/>
              </a:buClr>
              <a:buSzPts val="1400"/>
              <a:buFont typeface="Roboto"/>
              <a:buChar char="●"/>
            </a:pPr>
            <a:r>
              <a:rPr lang="en">
                <a:solidFill>
                  <a:schemeClr val="accent2"/>
                </a:solidFill>
                <a:highlight>
                  <a:srgbClr val="FFFFFF"/>
                </a:highlight>
                <a:latin typeface="Roboto"/>
                <a:ea typeface="Roboto"/>
                <a:cs typeface="Roboto"/>
                <a:sym typeface="Roboto"/>
              </a:rPr>
              <a:t>We can target our marketing area to be on these travel agencies website and work with them since majority of the visitors tend to reach out to them.</a:t>
            </a:r>
            <a:endParaRPr>
              <a:solidFill>
                <a:schemeClr val="accent2"/>
              </a:solidFill>
              <a:highlight>
                <a:srgbClr val="FFFFFF"/>
              </a:highlight>
              <a:latin typeface="Roboto"/>
              <a:ea typeface="Roboto"/>
              <a:cs typeface="Roboto"/>
              <a:sym typeface="Roboto"/>
            </a:endParaRPr>
          </a:p>
        </p:txBody>
      </p:sp>
      <p:pic>
        <p:nvPicPr>
          <p:cNvPr id="252" name="Google Shape;252;p37"/>
          <p:cNvPicPr preferRelativeResize="0"/>
          <p:nvPr/>
        </p:nvPicPr>
        <p:blipFill>
          <a:blip r:embed="rId5">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9"/>
                                        </p:tgtEl>
                                        <p:attrNameLst>
                                          <p:attrName>style.visibility</p:attrName>
                                        </p:attrNameLst>
                                      </p:cBhvr>
                                      <p:to>
                                        <p:strVal val="visible"/>
                                      </p:to>
                                    </p:set>
                                    <p:animEffect transition="in" filter="fade">
                                      <p:cBhvr>
                                        <p:cTn id="7" dur="1000"/>
                                        <p:tgtEl>
                                          <p:spTgt spid="249"/>
                                        </p:tgtEl>
                                      </p:cBhvr>
                                    </p:animEffect>
                                  </p:childTnLst>
                                </p:cTn>
                              </p:par>
                              <p:par>
                                <p:cTn id="8" presetID="10" presetClass="entr" presetSubtype="0" fill="hold" nodeType="withEffect">
                                  <p:stCondLst>
                                    <p:cond delay="0"/>
                                  </p:stCondLst>
                                  <p:childTnLst>
                                    <p:set>
                                      <p:cBhvr>
                                        <p:cTn id="9" dur="1" fill="hold">
                                          <p:stCondLst>
                                            <p:cond delay="0"/>
                                          </p:stCondLst>
                                        </p:cTn>
                                        <p:tgtEl>
                                          <p:spTgt spid="250"/>
                                        </p:tgtEl>
                                        <p:attrNameLst>
                                          <p:attrName>style.visibility</p:attrName>
                                        </p:attrNameLst>
                                      </p:cBhvr>
                                      <p:to>
                                        <p:strVal val="visible"/>
                                      </p:to>
                                    </p:set>
                                    <p:animEffect transition="in" filter="fade">
                                      <p:cBhvr>
                                        <p:cTn id="10" dur="1000"/>
                                        <p:tgtEl>
                                          <p:spTgt spid="25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51"/>
                                        </p:tgtEl>
                                        <p:attrNameLst>
                                          <p:attrName>style.visibility</p:attrName>
                                        </p:attrNameLst>
                                      </p:cBhvr>
                                      <p:to>
                                        <p:strVal val="visible"/>
                                      </p:to>
                                    </p:set>
                                    <p:animEffect transition="in" filter="fade">
                                      <p:cBhvr>
                                        <p:cTn id="15" dur="1000"/>
                                        <p:tgtEl>
                                          <p:spTgt spid="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8"/>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891"/>
              <a:buFont typeface="Arial"/>
              <a:buNone/>
            </a:pPr>
            <a:r>
              <a:rPr lang="en" sz="2488" b="1" u="sng"/>
              <a:t>Data Visualization</a:t>
            </a:r>
            <a:endParaRPr sz="2920" b="1" u="sng"/>
          </a:p>
        </p:txBody>
      </p:sp>
      <p:sp>
        <p:nvSpPr>
          <p:cNvPr id="258" name="Google Shape;258;p38"/>
          <p:cNvSpPr txBox="1">
            <a:spLocks noGrp="1"/>
          </p:cNvSpPr>
          <p:nvPr>
            <p:ph type="body" idx="1"/>
          </p:nvPr>
        </p:nvSpPr>
        <p:spPr>
          <a:xfrm>
            <a:off x="188950" y="440475"/>
            <a:ext cx="8520600" cy="468000"/>
          </a:xfrm>
          <a:prstGeom prst="rect">
            <a:avLst/>
          </a:prstGeom>
        </p:spPr>
        <p:txBody>
          <a:bodyPr spcFirstLastPara="1" wrap="square" lIns="91425" tIns="91425" rIns="91425" bIns="91425" anchor="t" anchorCtr="0">
            <a:normAutofit fontScale="25000" lnSpcReduction="20000"/>
          </a:bodyPr>
          <a:lstStyle/>
          <a:p>
            <a:pPr marL="0" lvl="0" indent="0" algn="l" rtl="0">
              <a:spcBef>
                <a:spcPts val="900"/>
              </a:spcBef>
              <a:spcAft>
                <a:spcPts val="0"/>
              </a:spcAft>
              <a:buClr>
                <a:schemeClr val="dk1"/>
              </a:buClr>
              <a:buSzPts val="275"/>
              <a:buFont typeface="Arial"/>
              <a:buNone/>
            </a:pPr>
            <a:r>
              <a:rPr lang="en" sz="5657" b="1">
                <a:solidFill>
                  <a:schemeClr val="accent2"/>
                </a:solidFill>
                <a:highlight>
                  <a:srgbClr val="FFFFFF"/>
                </a:highlight>
              </a:rPr>
              <a:t>What will give after finding the correlation between the numerical data ?</a:t>
            </a:r>
            <a:endParaRPr sz="5657" b="1">
              <a:solidFill>
                <a:schemeClr val="accent2"/>
              </a:solidFill>
              <a:highlight>
                <a:srgbClr val="FFFFFF"/>
              </a:highlight>
            </a:endParaRPr>
          </a:p>
          <a:p>
            <a:pPr marL="0" lvl="0" indent="0" algn="l" rtl="0">
              <a:spcBef>
                <a:spcPts val="900"/>
              </a:spcBef>
              <a:spcAft>
                <a:spcPts val="1200"/>
              </a:spcAft>
              <a:buNone/>
            </a:pPr>
            <a:endParaRPr/>
          </a:p>
        </p:txBody>
      </p:sp>
      <p:pic>
        <p:nvPicPr>
          <p:cNvPr id="259" name="Google Shape;259;p38"/>
          <p:cNvPicPr preferRelativeResize="0"/>
          <p:nvPr/>
        </p:nvPicPr>
        <p:blipFill>
          <a:blip r:embed="rId3">
            <a:alphaModFix/>
          </a:blip>
          <a:stretch>
            <a:fillRect/>
          </a:stretch>
        </p:blipFill>
        <p:spPr>
          <a:xfrm>
            <a:off x="78750" y="852200"/>
            <a:ext cx="5199776" cy="4106225"/>
          </a:xfrm>
          <a:prstGeom prst="rect">
            <a:avLst/>
          </a:prstGeom>
          <a:noFill/>
          <a:ln>
            <a:noFill/>
          </a:ln>
        </p:spPr>
      </p:pic>
      <p:sp>
        <p:nvSpPr>
          <p:cNvPr id="260" name="Google Shape;260;p38"/>
          <p:cNvSpPr txBox="1"/>
          <p:nvPr/>
        </p:nvSpPr>
        <p:spPr>
          <a:xfrm>
            <a:off x="5709550" y="1080225"/>
            <a:ext cx="3000000" cy="3632700"/>
          </a:xfrm>
          <a:prstGeom prst="rect">
            <a:avLst/>
          </a:prstGeom>
          <a:noFill/>
          <a:ln>
            <a:noFill/>
          </a:ln>
        </p:spPr>
        <p:txBody>
          <a:bodyPr spcFirstLastPara="1" wrap="square" lIns="91425" tIns="91425" rIns="91425" bIns="91425" anchor="t" anchorCtr="0">
            <a:spAutoFit/>
          </a:bodyPr>
          <a:lstStyle/>
          <a:p>
            <a:pPr marL="457200" lvl="0" indent="-317500" algn="just" rtl="0">
              <a:lnSpc>
                <a:spcPct val="150000"/>
              </a:lnSpc>
              <a:spcBef>
                <a:spcPts val="600"/>
              </a:spcBef>
              <a:spcAft>
                <a:spcPts val="0"/>
              </a:spcAft>
              <a:buClr>
                <a:schemeClr val="accent2"/>
              </a:buClr>
              <a:buSzPts val="1400"/>
              <a:buFont typeface="Roboto"/>
              <a:buChar char="●"/>
            </a:pPr>
            <a:r>
              <a:rPr lang="en">
                <a:solidFill>
                  <a:schemeClr val="accent2"/>
                </a:solidFill>
                <a:highlight>
                  <a:srgbClr val="FFFFFF"/>
                </a:highlight>
                <a:latin typeface="Roboto"/>
                <a:ea typeface="Roboto"/>
                <a:cs typeface="Roboto"/>
                <a:sym typeface="Roboto"/>
              </a:rPr>
              <a:t>Total stay length and lead time have slight correlation. This may means that for longer hotel stays people generally plan little before the  actual arrival.</a:t>
            </a:r>
            <a:endParaRPr>
              <a:solidFill>
                <a:schemeClr val="accent2"/>
              </a:solidFill>
              <a:highlight>
                <a:srgbClr val="FFFFFF"/>
              </a:highlight>
              <a:latin typeface="Roboto"/>
              <a:ea typeface="Roboto"/>
              <a:cs typeface="Roboto"/>
              <a:sym typeface="Roboto"/>
            </a:endParaRPr>
          </a:p>
          <a:p>
            <a:pPr marL="457200" lvl="0" indent="-317500" algn="just" rtl="0">
              <a:lnSpc>
                <a:spcPct val="150000"/>
              </a:lnSpc>
              <a:spcBef>
                <a:spcPts val="0"/>
              </a:spcBef>
              <a:spcAft>
                <a:spcPts val="0"/>
              </a:spcAft>
              <a:buClr>
                <a:schemeClr val="accent2"/>
              </a:buClr>
              <a:buSzPts val="1400"/>
              <a:buFont typeface="Roboto"/>
              <a:buChar char="●"/>
            </a:pPr>
            <a:r>
              <a:rPr lang="en">
                <a:solidFill>
                  <a:schemeClr val="accent2"/>
                </a:solidFill>
                <a:highlight>
                  <a:srgbClr val="FFFFFF"/>
                </a:highlight>
                <a:latin typeface="Roboto"/>
                <a:ea typeface="Roboto"/>
                <a:cs typeface="Roboto"/>
                <a:sym typeface="Roboto"/>
              </a:rPr>
              <a:t>adr is slightly correlated with total_people, which makes sense as more no. of people means more revenue, therefore more adr.</a:t>
            </a:r>
            <a:endParaRPr>
              <a:solidFill>
                <a:schemeClr val="accent2"/>
              </a:solidFill>
              <a:highlight>
                <a:srgbClr val="FFFFFF"/>
              </a:highlight>
              <a:latin typeface="Roboto"/>
              <a:ea typeface="Roboto"/>
              <a:cs typeface="Roboto"/>
              <a:sym typeface="Roboto"/>
            </a:endParaRPr>
          </a:p>
        </p:txBody>
      </p:sp>
      <p:pic>
        <p:nvPicPr>
          <p:cNvPr id="261" name="Google Shape;261;p38"/>
          <p:cNvPicPr preferRelativeResize="0"/>
          <p:nvPr/>
        </p:nvPicPr>
        <p:blipFill>
          <a:blip r:embed="rId4">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9"/>
                                        </p:tgtEl>
                                        <p:attrNameLst>
                                          <p:attrName>style.visibility</p:attrName>
                                        </p:attrNameLst>
                                      </p:cBhvr>
                                      <p:to>
                                        <p:strVal val="visible"/>
                                      </p:to>
                                    </p:set>
                                    <p:animEffect transition="in" filter="fade">
                                      <p:cBhvr>
                                        <p:cTn id="7" dur="1000"/>
                                        <p:tgtEl>
                                          <p:spTgt spid="25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0"/>
                                        </p:tgtEl>
                                        <p:attrNameLst>
                                          <p:attrName>style.visibility</p:attrName>
                                        </p:attrNameLst>
                                      </p:cBhvr>
                                      <p:to>
                                        <p:strVal val="visible"/>
                                      </p:to>
                                    </p:set>
                                    <p:animEffect transition="in" filter="fade">
                                      <p:cBhvr>
                                        <p:cTn id="12" dur="1000"/>
                                        <p:tgtEl>
                                          <p:spTgt spid="2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39"/>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2500" b="1" u="sng"/>
              <a:t>Data Visualization</a:t>
            </a:r>
            <a:endParaRPr sz="2500" b="1" u="sng"/>
          </a:p>
        </p:txBody>
      </p:sp>
      <p:sp>
        <p:nvSpPr>
          <p:cNvPr id="267" name="Google Shape;267;p39"/>
          <p:cNvSpPr txBox="1">
            <a:spLocks noGrp="1"/>
          </p:cNvSpPr>
          <p:nvPr>
            <p:ph type="body" idx="1"/>
          </p:nvPr>
        </p:nvSpPr>
        <p:spPr>
          <a:xfrm>
            <a:off x="311700" y="572700"/>
            <a:ext cx="7814700" cy="1081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1600" b="1"/>
              <a:t>Which month generated more revenue across the year 2015, 2016, and 2017?</a:t>
            </a:r>
            <a:endParaRPr sz="1600" b="1"/>
          </a:p>
        </p:txBody>
      </p:sp>
      <p:pic>
        <p:nvPicPr>
          <p:cNvPr id="268" name="Google Shape;268;p39"/>
          <p:cNvPicPr preferRelativeResize="0"/>
          <p:nvPr/>
        </p:nvPicPr>
        <p:blipFill>
          <a:blip r:embed="rId3">
            <a:alphaModFix/>
          </a:blip>
          <a:stretch>
            <a:fillRect/>
          </a:stretch>
        </p:blipFill>
        <p:spPr>
          <a:xfrm>
            <a:off x="0" y="1117075"/>
            <a:ext cx="6051901" cy="3523125"/>
          </a:xfrm>
          <a:prstGeom prst="rect">
            <a:avLst/>
          </a:prstGeom>
          <a:noFill/>
          <a:ln>
            <a:noFill/>
          </a:ln>
        </p:spPr>
      </p:pic>
      <p:sp>
        <p:nvSpPr>
          <p:cNvPr id="269" name="Google Shape;269;p39"/>
          <p:cNvSpPr txBox="1"/>
          <p:nvPr/>
        </p:nvSpPr>
        <p:spPr>
          <a:xfrm>
            <a:off x="5693425" y="1199525"/>
            <a:ext cx="3358500" cy="2366100"/>
          </a:xfrm>
          <a:prstGeom prst="rect">
            <a:avLst/>
          </a:prstGeom>
          <a:noFill/>
          <a:ln>
            <a:noFill/>
          </a:ln>
        </p:spPr>
        <p:txBody>
          <a:bodyPr spcFirstLastPara="1" wrap="square" lIns="91425" tIns="91425" rIns="91425" bIns="91425" anchor="t" anchorCtr="0">
            <a:spAutoFit/>
          </a:bodyPr>
          <a:lstStyle/>
          <a:p>
            <a:pPr marL="457200" lvl="0" indent="-327025" algn="l" rtl="0">
              <a:lnSpc>
                <a:spcPct val="135714"/>
              </a:lnSpc>
              <a:spcBef>
                <a:spcPts val="0"/>
              </a:spcBef>
              <a:spcAft>
                <a:spcPts val="0"/>
              </a:spcAft>
              <a:buClr>
                <a:schemeClr val="dk1"/>
              </a:buClr>
              <a:buSzPts val="1550"/>
              <a:buChar char="●"/>
            </a:pPr>
            <a:r>
              <a:rPr lang="en" sz="1550">
                <a:solidFill>
                  <a:schemeClr val="dk1"/>
                </a:solidFill>
                <a:highlight>
                  <a:srgbClr val="FFFFFE"/>
                </a:highlight>
              </a:rPr>
              <a:t>Avg adr rises from beginning of year upto middle of year and reaches peak at </a:t>
            </a:r>
            <a:r>
              <a:rPr lang="en" sz="1550" b="1">
                <a:solidFill>
                  <a:schemeClr val="dk1"/>
                </a:solidFill>
                <a:highlight>
                  <a:srgbClr val="FFFFFE"/>
                </a:highlight>
              </a:rPr>
              <a:t>August</a:t>
            </a:r>
            <a:r>
              <a:rPr lang="en" sz="1550">
                <a:solidFill>
                  <a:schemeClr val="dk1"/>
                </a:solidFill>
                <a:highlight>
                  <a:srgbClr val="FFFFFE"/>
                </a:highlight>
              </a:rPr>
              <a:t> and then lowers to the end of year. But hotels do make some good deals with high adr at end of year also.</a:t>
            </a:r>
            <a:endParaRPr sz="1550">
              <a:solidFill>
                <a:schemeClr val="dk1"/>
              </a:solidFill>
              <a:highlight>
                <a:srgbClr val="FFFFFE"/>
              </a:highlight>
            </a:endParaRPr>
          </a:p>
        </p:txBody>
      </p:sp>
      <p:pic>
        <p:nvPicPr>
          <p:cNvPr id="270" name="Google Shape;270;p39"/>
          <p:cNvPicPr preferRelativeResize="0"/>
          <p:nvPr/>
        </p:nvPicPr>
        <p:blipFill>
          <a:blip r:embed="rId4">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8"/>
                                        </p:tgtEl>
                                        <p:attrNameLst>
                                          <p:attrName>style.visibility</p:attrName>
                                        </p:attrNameLst>
                                      </p:cBhvr>
                                      <p:to>
                                        <p:strVal val="visible"/>
                                      </p:to>
                                    </p:set>
                                    <p:animEffect transition="in" filter="fade">
                                      <p:cBhvr>
                                        <p:cTn id="7" dur="1000"/>
                                        <p:tgtEl>
                                          <p:spTgt spid="26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9"/>
                                        </p:tgtEl>
                                        <p:attrNameLst>
                                          <p:attrName>style.visibility</p:attrName>
                                        </p:attrNameLst>
                                      </p:cBhvr>
                                      <p:to>
                                        <p:strVal val="visible"/>
                                      </p:to>
                                    </p:set>
                                    <p:animEffect transition="in" filter="fade">
                                      <p:cBhvr>
                                        <p:cTn id="12" dur="1000"/>
                                        <p:tgtEl>
                                          <p:spTgt spid="2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0"/>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791"/>
              <a:buFont typeface="Arial"/>
              <a:buNone/>
            </a:pPr>
            <a:r>
              <a:rPr lang="en" sz="2764" b="1" u="sng"/>
              <a:t>Data Visualization</a:t>
            </a:r>
            <a:endParaRPr sz="3244" b="1" u="sng"/>
          </a:p>
        </p:txBody>
      </p:sp>
      <p:sp>
        <p:nvSpPr>
          <p:cNvPr id="276" name="Google Shape;276;p40"/>
          <p:cNvSpPr txBox="1">
            <a:spLocks noGrp="1"/>
          </p:cNvSpPr>
          <p:nvPr>
            <p:ph type="body" idx="1"/>
          </p:nvPr>
        </p:nvSpPr>
        <p:spPr>
          <a:xfrm>
            <a:off x="238050" y="514125"/>
            <a:ext cx="7814700" cy="4680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1700" b="1"/>
              <a:t>Which hotel has a higher rate of returning customers?</a:t>
            </a:r>
            <a:endParaRPr sz="1700" b="1"/>
          </a:p>
        </p:txBody>
      </p:sp>
      <p:pic>
        <p:nvPicPr>
          <p:cNvPr id="277" name="Google Shape;277;p40"/>
          <p:cNvPicPr preferRelativeResize="0"/>
          <p:nvPr/>
        </p:nvPicPr>
        <p:blipFill>
          <a:blip r:embed="rId3">
            <a:alphaModFix/>
          </a:blip>
          <a:stretch>
            <a:fillRect/>
          </a:stretch>
        </p:blipFill>
        <p:spPr>
          <a:xfrm>
            <a:off x="152400" y="1134525"/>
            <a:ext cx="4105275" cy="3733800"/>
          </a:xfrm>
          <a:prstGeom prst="rect">
            <a:avLst/>
          </a:prstGeom>
          <a:noFill/>
          <a:ln>
            <a:noFill/>
          </a:ln>
        </p:spPr>
      </p:pic>
      <p:sp>
        <p:nvSpPr>
          <p:cNvPr id="278" name="Google Shape;278;p40"/>
          <p:cNvSpPr txBox="1"/>
          <p:nvPr/>
        </p:nvSpPr>
        <p:spPr>
          <a:xfrm>
            <a:off x="4404400" y="1964100"/>
            <a:ext cx="4291200" cy="10158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solidFill>
                  <a:schemeClr val="accent2"/>
                </a:solidFill>
                <a:highlight>
                  <a:srgbClr val="FFFFFF"/>
                </a:highlight>
                <a:latin typeface="Roboto"/>
                <a:ea typeface="Roboto"/>
                <a:cs typeface="Roboto"/>
                <a:sym typeface="Roboto"/>
              </a:rPr>
              <a:t>From the above graph it is clear that highest rate of returning customers are from the </a:t>
            </a:r>
            <a:r>
              <a:rPr lang="en" sz="1800" b="1">
                <a:solidFill>
                  <a:schemeClr val="accent2"/>
                </a:solidFill>
                <a:highlight>
                  <a:srgbClr val="FFFFFF"/>
                </a:highlight>
                <a:latin typeface="Roboto"/>
                <a:ea typeface="Roboto"/>
                <a:cs typeface="Roboto"/>
                <a:sym typeface="Roboto"/>
              </a:rPr>
              <a:t>resort hotel</a:t>
            </a:r>
            <a:r>
              <a:rPr lang="en" sz="1800">
                <a:solidFill>
                  <a:schemeClr val="accent2"/>
                </a:solidFill>
                <a:highlight>
                  <a:srgbClr val="FFFFFF"/>
                </a:highlight>
                <a:latin typeface="Roboto"/>
                <a:ea typeface="Roboto"/>
                <a:cs typeface="Roboto"/>
                <a:sym typeface="Roboto"/>
              </a:rPr>
              <a:t>.</a:t>
            </a:r>
            <a:endParaRPr sz="2000"/>
          </a:p>
        </p:txBody>
      </p:sp>
      <p:pic>
        <p:nvPicPr>
          <p:cNvPr id="279" name="Google Shape;279;p40"/>
          <p:cNvPicPr preferRelativeResize="0"/>
          <p:nvPr/>
        </p:nvPicPr>
        <p:blipFill>
          <a:blip r:embed="rId4">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7"/>
                                        </p:tgtEl>
                                        <p:attrNameLst>
                                          <p:attrName>style.visibility</p:attrName>
                                        </p:attrNameLst>
                                      </p:cBhvr>
                                      <p:to>
                                        <p:strVal val="visible"/>
                                      </p:to>
                                    </p:set>
                                    <p:animEffect transition="in" filter="fade">
                                      <p:cBhvr>
                                        <p:cTn id="7" dur="1000"/>
                                        <p:tgtEl>
                                          <p:spTgt spid="27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8"/>
                                        </p:tgtEl>
                                        <p:attrNameLst>
                                          <p:attrName>style.visibility</p:attrName>
                                        </p:attrNameLst>
                                      </p:cBhvr>
                                      <p:to>
                                        <p:strVal val="visible"/>
                                      </p:to>
                                    </p:set>
                                    <p:animEffect transition="in" filter="fade">
                                      <p:cBhvr>
                                        <p:cTn id="12" dur="1000"/>
                                        <p:tgtEl>
                                          <p:spTgt spid="2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41"/>
          <p:cNvSpPr txBox="1">
            <a:spLocks noGrp="1"/>
          </p:cNvSpPr>
          <p:nvPr>
            <p:ph type="title"/>
          </p:nvPr>
        </p:nvSpPr>
        <p:spPr>
          <a:xfrm>
            <a:off x="115025" y="104888"/>
            <a:ext cx="8520600" cy="572700"/>
          </a:xfrm>
          <a:prstGeom prst="rect">
            <a:avLst/>
          </a:prstGeom>
        </p:spPr>
        <p:txBody>
          <a:bodyPr spcFirstLastPara="1" wrap="square" lIns="91425" tIns="91425" rIns="91425" bIns="91425" anchor="t" anchorCtr="0">
            <a:normAutofit/>
          </a:bodyPr>
          <a:lstStyle/>
          <a:p>
            <a:pPr marL="0" lvl="0" indent="0" algn="l" rtl="0">
              <a:lnSpc>
                <a:spcPct val="150000"/>
              </a:lnSpc>
              <a:spcBef>
                <a:spcPts val="0"/>
              </a:spcBef>
              <a:spcAft>
                <a:spcPts val="1200"/>
              </a:spcAft>
              <a:buNone/>
            </a:pPr>
            <a:r>
              <a:rPr lang="en" sz="2500" b="1" u="sng"/>
              <a:t>Challenges faced during data exploration</a:t>
            </a:r>
            <a:endParaRPr sz="2500" b="1" u="sng"/>
          </a:p>
        </p:txBody>
      </p:sp>
      <p:sp>
        <p:nvSpPr>
          <p:cNvPr id="285" name="Google Shape;285;p41"/>
          <p:cNvSpPr txBox="1">
            <a:spLocks noGrp="1"/>
          </p:cNvSpPr>
          <p:nvPr>
            <p:ph type="body" idx="1"/>
          </p:nvPr>
        </p:nvSpPr>
        <p:spPr>
          <a:xfrm>
            <a:off x="0" y="1119250"/>
            <a:ext cx="9144000" cy="3416400"/>
          </a:xfrm>
          <a:prstGeom prst="rect">
            <a:avLst/>
          </a:prstGeom>
        </p:spPr>
        <p:txBody>
          <a:bodyPr spcFirstLastPara="1" wrap="square" lIns="91425" tIns="91425" rIns="91425" bIns="91425" anchor="t" anchorCtr="0">
            <a:normAutofit/>
          </a:bodyPr>
          <a:lstStyle/>
          <a:p>
            <a:pPr marL="457200" lvl="0" indent="-317500" algn="l" rtl="0">
              <a:lnSpc>
                <a:spcPct val="200000"/>
              </a:lnSpc>
              <a:spcBef>
                <a:spcPts val="0"/>
              </a:spcBef>
              <a:spcAft>
                <a:spcPts val="0"/>
              </a:spcAft>
              <a:buClr>
                <a:schemeClr val="dk1"/>
              </a:buClr>
              <a:buSzPts val="1400"/>
              <a:buChar char="●"/>
            </a:pPr>
            <a:r>
              <a:rPr lang="en" sz="1400">
                <a:solidFill>
                  <a:schemeClr val="dk1"/>
                </a:solidFill>
              </a:rPr>
              <a:t>While dealing with the unstructured data.</a:t>
            </a:r>
            <a:endParaRPr sz="1400">
              <a:solidFill>
                <a:schemeClr val="dk1"/>
              </a:solidFill>
            </a:endParaRPr>
          </a:p>
          <a:p>
            <a:pPr marL="457200" lvl="0" indent="-317500" algn="l" rtl="0">
              <a:lnSpc>
                <a:spcPct val="200000"/>
              </a:lnSpc>
              <a:spcBef>
                <a:spcPts val="0"/>
              </a:spcBef>
              <a:spcAft>
                <a:spcPts val="0"/>
              </a:spcAft>
              <a:buClr>
                <a:schemeClr val="dk1"/>
              </a:buClr>
              <a:buSzPts val="1400"/>
              <a:buChar char="●"/>
            </a:pPr>
            <a:r>
              <a:rPr lang="en" sz="1400">
                <a:solidFill>
                  <a:schemeClr val="dk1"/>
                </a:solidFill>
              </a:rPr>
              <a:t>To find out which column data is more useful out of the given data to get the results.</a:t>
            </a:r>
            <a:endParaRPr sz="1400">
              <a:solidFill>
                <a:schemeClr val="dk1"/>
              </a:solidFill>
            </a:endParaRPr>
          </a:p>
          <a:p>
            <a:pPr marL="457200" lvl="0" indent="-317500" algn="l" rtl="0">
              <a:lnSpc>
                <a:spcPct val="200000"/>
              </a:lnSpc>
              <a:spcBef>
                <a:spcPts val="0"/>
              </a:spcBef>
              <a:spcAft>
                <a:spcPts val="0"/>
              </a:spcAft>
              <a:buClr>
                <a:schemeClr val="dk1"/>
              </a:buClr>
              <a:buSzPts val="1400"/>
              <a:buChar char="●"/>
            </a:pPr>
            <a:r>
              <a:rPr lang="en" sz="1400">
                <a:solidFill>
                  <a:schemeClr val="dk1"/>
                </a:solidFill>
              </a:rPr>
              <a:t>The most challenging part was how to represent data in the best suited graphs.</a:t>
            </a:r>
            <a:endParaRPr sz="1400">
              <a:solidFill>
                <a:schemeClr val="dk1"/>
              </a:solidFill>
            </a:endParaRPr>
          </a:p>
          <a:p>
            <a:pPr marL="457200" lvl="0" indent="-317500" algn="l" rtl="0">
              <a:lnSpc>
                <a:spcPct val="200000"/>
              </a:lnSpc>
              <a:spcBef>
                <a:spcPts val="0"/>
              </a:spcBef>
              <a:spcAft>
                <a:spcPts val="0"/>
              </a:spcAft>
              <a:buClr>
                <a:schemeClr val="dk1"/>
              </a:buClr>
              <a:buSzPts val="1400"/>
              <a:buChar char="●"/>
            </a:pPr>
            <a:r>
              <a:rPr lang="en" sz="1400">
                <a:solidFill>
                  <a:schemeClr val="dk1"/>
                </a:solidFill>
              </a:rPr>
              <a:t>We faced problem to find out the inference from the correlation chart.</a:t>
            </a:r>
            <a:endParaRPr sz="1400">
              <a:solidFill>
                <a:schemeClr val="dk1"/>
              </a:solidFill>
            </a:endParaRPr>
          </a:p>
          <a:p>
            <a:pPr marL="457200" lvl="0" indent="-317500" algn="l" rtl="0">
              <a:lnSpc>
                <a:spcPct val="200000"/>
              </a:lnSpc>
              <a:spcBef>
                <a:spcPts val="0"/>
              </a:spcBef>
              <a:spcAft>
                <a:spcPts val="0"/>
              </a:spcAft>
              <a:buClr>
                <a:schemeClr val="dk1"/>
              </a:buClr>
              <a:buSzPts val="1400"/>
              <a:buChar char="●"/>
            </a:pPr>
            <a:r>
              <a:rPr lang="en" sz="1400">
                <a:solidFill>
                  <a:schemeClr val="dk1"/>
                </a:solidFill>
              </a:rPr>
              <a:t>Faced problem while plotting the graph of countries, from where most of the population is coming for hotel booking.</a:t>
            </a:r>
            <a:endParaRPr sz="1400">
              <a:solidFill>
                <a:schemeClr val="dk1"/>
              </a:solidFill>
            </a:endParaRPr>
          </a:p>
        </p:txBody>
      </p:sp>
      <p:pic>
        <p:nvPicPr>
          <p:cNvPr id="286" name="Google Shape;286;p41"/>
          <p:cNvPicPr preferRelativeResize="0"/>
          <p:nvPr/>
        </p:nvPicPr>
        <p:blipFill>
          <a:blip r:embed="rId3">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5"/>
                                        </p:tgtEl>
                                        <p:attrNameLst>
                                          <p:attrName>style.visibility</p:attrName>
                                        </p:attrNameLst>
                                      </p:cBhvr>
                                      <p:to>
                                        <p:strVal val="visible"/>
                                      </p:to>
                                    </p:set>
                                    <p:animEffect transition="in" filter="fade">
                                      <p:cBhvr>
                                        <p:cTn id="7" dur="1000"/>
                                        <p:tgtEl>
                                          <p:spTgt spid="2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2"/>
          <p:cNvSpPr txBox="1">
            <a:spLocks noGrp="1"/>
          </p:cNvSpPr>
          <p:nvPr>
            <p:ph type="title"/>
          </p:nvPr>
        </p:nvSpPr>
        <p:spPr>
          <a:xfrm>
            <a:off x="-7070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    </a:t>
            </a:r>
            <a:r>
              <a:rPr lang="en" b="1" u="sng"/>
              <a:t>Conclusion:</a:t>
            </a:r>
            <a:endParaRPr b="1" u="sng"/>
          </a:p>
        </p:txBody>
      </p:sp>
      <p:sp>
        <p:nvSpPr>
          <p:cNvPr id="292" name="Google Shape;292;p42"/>
          <p:cNvSpPr txBox="1">
            <a:spLocks noGrp="1"/>
          </p:cNvSpPr>
          <p:nvPr>
            <p:ph type="body" idx="1"/>
          </p:nvPr>
        </p:nvSpPr>
        <p:spPr>
          <a:xfrm>
            <a:off x="0" y="782475"/>
            <a:ext cx="9144000" cy="4570800"/>
          </a:xfrm>
          <a:prstGeom prst="rect">
            <a:avLst/>
          </a:prstGeom>
        </p:spPr>
        <p:txBody>
          <a:bodyPr spcFirstLastPara="1" wrap="square" lIns="91425" tIns="91425" rIns="91425" bIns="91425" anchor="t" anchorCtr="0">
            <a:noAutofit/>
          </a:bodyPr>
          <a:lstStyle/>
          <a:p>
            <a:pPr marL="457200" lvl="0" indent="-317500" algn="l" rtl="0">
              <a:spcBef>
                <a:spcPts val="60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Resort hotels are more expensive compared to the City hotels. A huge portion of the hotels is </a:t>
            </a:r>
            <a:r>
              <a:rPr lang="en" sz="1400" b="1">
                <a:solidFill>
                  <a:schemeClr val="accent2"/>
                </a:solidFill>
                <a:highlight>
                  <a:srgbClr val="FFFFFF"/>
                </a:highlight>
                <a:latin typeface="Roboto"/>
                <a:ea typeface="Roboto"/>
                <a:cs typeface="Roboto"/>
                <a:sym typeface="Roboto"/>
              </a:rPr>
              <a:t>City hotel</a:t>
            </a:r>
            <a:r>
              <a:rPr lang="en" sz="1400">
                <a:solidFill>
                  <a:schemeClr val="accent2"/>
                </a:solidFill>
                <a:highlight>
                  <a:srgbClr val="FFFFFF"/>
                </a:highlight>
                <a:latin typeface="Roboto"/>
                <a:ea typeface="Roboto"/>
                <a:cs typeface="Roboto"/>
                <a:sym typeface="Roboto"/>
              </a:rPr>
              <a:t>.</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We observed that the high rate of cancellations is due to </a:t>
            </a:r>
            <a:r>
              <a:rPr lang="en" sz="1400" b="1">
                <a:solidFill>
                  <a:schemeClr val="accent2"/>
                </a:solidFill>
                <a:highlight>
                  <a:srgbClr val="FFFFFF"/>
                </a:highlight>
                <a:latin typeface="Roboto"/>
                <a:ea typeface="Roboto"/>
                <a:cs typeface="Roboto"/>
                <a:sym typeface="Roboto"/>
              </a:rPr>
              <a:t>'no deposit' policy</a:t>
            </a:r>
            <a:r>
              <a:rPr lang="en" sz="1400">
                <a:solidFill>
                  <a:schemeClr val="accent2"/>
                </a:solidFill>
                <a:highlight>
                  <a:srgbClr val="FFFFFF"/>
                </a:highlight>
                <a:latin typeface="Roboto"/>
                <a:ea typeface="Roboto"/>
                <a:cs typeface="Roboto"/>
                <a:sym typeface="Roboto"/>
              </a:rPr>
              <a:t>.</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It seems that majority of the visitors who travel in pair, prefer City hotels.</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In the year </a:t>
            </a:r>
            <a:r>
              <a:rPr lang="en" sz="1400" b="1">
                <a:solidFill>
                  <a:schemeClr val="accent2"/>
                </a:solidFill>
                <a:highlight>
                  <a:srgbClr val="FFFFFF"/>
                </a:highlight>
                <a:latin typeface="Roboto"/>
                <a:ea typeface="Roboto"/>
                <a:cs typeface="Roboto"/>
                <a:sym typeface="Roboto"/>
              </a:rPr>
              <a:t>2016</a:t>
            </a:r>
            <a:r>
              <a:rPr lang="en" sz="1400">
                <a:solidFill>
                  <a:schemeClr val="accent2"/>
                </a:solidFill>
                <a:highlight>
                  <a:srgbClr val="FFFFFF"/>
                </a:highlight>
                <a:latin typeface="Roboto"/>
                <a:ea typeface="Roboto"/>
                <a:cs typeface="Roboto"/>
                <a:sym typeface="Roboto"/>
              </a:rPr>
              <a:t>, highest hotel bookings were registered.</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In the month, </a:t>
            </a:r>
            <a:r>
              <a:rPr lang="en" sz="1400" b="1">
                <a:solidFill>
                  <a:schemeClr val="accent2"/>
                </a:solidFill>
                <a:highlight>
                  <a:srgbClr val="FFFFFF"/>
                </a:highlight>
                <a:latin typeface="Roboto"/>
                <a:ea typeface="Roboto"/>
                <a:cs typeface="Roboto"/>
                <a:sym typeface="Roboto"/>
              </a:rPr>
              <a:t>July</a:t>
            </a:r>
            <a:r>
              <a:rPr lang="en" sz="1400">
                <a:solidFill>
                  <a:schemeClr val="accent2"/>
                </a:solidFill>
                <a:highlight>
                  <a:srgbClr val="FFFFFF"/>
                </a:highlight>
                <a:latin typeface="Roboto"/>
                <a:ea typeface="Roboto"/>
                <a:cs typeface="Roboto"/>
                <a:sym typeface="Roboto"/>
              </a:rPr>
              <a:t> to </a:t>
            </a:r>
            <a:r>
              <a:rPr lang="en" sz="1400" b="1">
                <a:solidFill>
                  <a:schemeClr val="accent2"/>
                </a:solidFill>
                <a:highlight>
                  <a:srgbClr val="FFFFFF"/>
                </a:highlight>
                <a:latin typeface="Roboto"/>
                <a:ea typeface="Roboto"/>
                <a:cs typeface="Roboto"/>
                <a:sym typeface="Roboto"/>
              </a:rPr>
              <a:t>August</a:t>
            </a:r>
            <a:r>
              <a:rPr lang="en" sz="1400">
                <a:solidFill>
                  <a:schemeClr val="accent2"/>
                </a:solidFill>
                <a:highlight>
                  <a:srgbClr val="FFFFFF"/>
                </a:highlight>
                <a:latin typeface="Roboto"/>
                <a:ea typeface="Roboto"/>
                <a:cs typeface="Roboto"/>
                <a:sym typeface="Roboto"/>
              </a:rPr>
              <a:t> highest hotel bookings were found.</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It seems that majority of the stays are over the </a:t>
            </a:r>
            <a:r>
              <a:rPr lang="en" sz="1400" b="1">
                <a:solidFill>
                  <a:schemeClr val="accent2"/>
                </a:solidFill>
                <a:highlight>
                  <a:srgbClr val="FFFFFF"/>
                </a:highlight>
                <a:latin typeface="Roboto"/>
                <a:ea typeface="Roboto"/>
                <a:cs typeface="Roboto"/>
                <a:sym typeface="Roboto"/>
              </a:rPr>
              <a:t>weekdays night</a:t>
            </a:r>
            <a:r>
              <a:rPr lang="en" sz="1400">
                <a:solidFill>
                  <a:schemeClr val="accent2"/>
                </a:solidFill>
                <a:highlight>
                  <a:srgbClr val="FFFFFF"/>
                </a:highlight>
                <a:latin typeface="Roboto"/>
                <a:ea typeface="Roboto"/>
                <a:cs typeface="Roboto"/>
                <a:sym typeface="Roboto"/>
              </a:rPr>
              <a:t>.</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Resort hotels are better choice for </a:t>
            </a:r>
            <a:r>
              <a:rPr lang="en" sz="1400" b="1">
                <a:solidFill>
                  <a:schemeClr val="accent2"/>
                </a:solidFill>
                <a:highlight>
                  <a:srgbClr val="FFFFFF"/>
                </a:highlight>
                <a:latin typeface="Roboto"/>
                <a:ea typeface="Roboto"/>
                <a:cs typeface="Roboto"/>
                <a:sym typeface="Roboto"/>
              </a:rPr>
              <a:t>large families</a:t>
            </a:r>
            <a:r>
              <a:rPr lang="en" sz="1400">
                <a:solidFill>
                  <a:schemeClr val="accent2"/>
                </a:solidFill>
                <a:highlight>
                  <a:srgbClr val="FFFFFF"/>
                </a:highlight>
                <a:latin typeface="Roboto"/>
                <a:ea typeface="Roboto"/>
                <a:cs typeface="Roboto"/>
                <a:sym typeface="Roboto"/>
              </a:rPr>
              <a:t>.</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In the hotel bookings we have found that a huge number of visitors are coming from western europe, namely France, UK and </a:t>
            </a:r>
            <a:r>
              <a:rPr lang="en" sz="1400" b="1">
                <a:solidFill>
                  <a:schemeClr val="accent2"/>
                </a:solidFill>
                <a:highlight>
                  <a:srgbClr val="FFFFFF"/>
                </a:highlight>
                <a:latin typeface="Roboto"/>
                <a:ea typeface="Roboto"/>
                <a:cs typeface="Roboto"/>
                <a:sym typeface="Roboto"/>
              </a:rPr>
              <a:t>Portugal</a:t>
            </a:r>
            <a:r>
              <a:rPr lang="en" sz="1400">
                <a:solidFill>
                  <a:schemeClr val="accent2"/>
                </a:solidFill>
                <a:highlight>
                  <a:srgbClr val="FFFFFF"/>
                </a:highlight>
                <a:latin typeface="Roboto"/>
                <a:ea typeface="Roboto"/>
                <a:cs typeface="Roboto"/>
                <a:sym typeface="Roboto"/>
              </a:rPr>
              <a:t> are among the highest.</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Majority of the distribution channels and market segments involve </a:t>
            </a:r>
            <a:r>
              <a:rPr lang="en" sz="1400" b="1">
                <a:solidFill>
                  <a:schemeClr val="accent2"/>
                </a:solidFill>
                <a:highlight>
                  <a:srgbClr val="FFFFFF"/>
                </a:highlight>
                <a:latin typeface="Roboto"/>
                <a:ea typeface="Roboto"/>
                <a:cs typeface="Roboto"/>
                <a:sym typeface="Roboto"/>
              </a:rPr>
              <a:t>travel agencies</a:t>
            </a:r>
            <a:r>
              <a:rPr lang="en" sz="1400">
                <a:solidFill>
                  <a:schemeClr val="accent2"/>
                </a:solidFill>
                <a:highlight>
                  <a:srgbClr val="FFFFFF"/>
                </a:highlight>
                <a:latin typeface="Roboto"/>
                <a:ea typeface="Roboto"/>
                <a:cs typeface="Roboto"/>
                <a:sym typeface="Roboto"/>
              </a:rPr>
              <a:t> (online or offline).</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We need to focus on that customers who visited first time in the hotel but not booking the hotel again.</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The more revenue is generated by the </a:t>
            </a:r>
            <a:r>
              <a:rPr lang="en" sz="1400" b="1">
                <a:solidFill>
                  <a:schemeClr val="accent2"/>
                </a:solidFill>
                <a:highlight>
                  <a:srgbClr val="FFFFFF"/>
                </a:highlight>
                <a:latin typeface="Roboto"/>
                <a:ea typeface="Roboto"/>
                <a:cs typeface="Roboto"/>
                <a:sym typeface="Roboto"/>
              </a:rPr>
              <a:t>City hotels</a:t>
            </a:r>
            <a:r>
              <a:rPr lang="en" sz="1400">
                <a:solidFill>
                  <a:schemeClr val="accent2"/>
                </a:solidFill>
                <a:highlight>
                  <a:srgbClr val="FFFFFF"/>
                </a:highlight>
                <a:latin typeface="Roboto"/>
                <a:ea typeface="Roboto"/>
                <a:cs typeface="Roboto"/>
                <a:sym typeface="Roboto"/>
              </a:rPr>
              <a:t>.</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b="1">
                <a:solidFill>
                  <a:schemeClr val="accent2"/>
                </a:solidFill>
                <a:highlight>
                  <a:srgbClr val="FFFFFF"/>
                </a:highlight>
                <a:latin typeface="Roboto"/>
                <a:ea typeface="Roboto"/>
                <a:cs typeface="Roboto"/>
                <a:sym typeface="Roboto"/>
              </a:rPr>
              <a:t>H-type</a:t>
            </a:r>
            <a:r>
              <a:rPr lang="en" sz="1400">
                <a:solidFill>
                  <a:schemeClr val="accent2"/>
                </a:solidFill>
                <a:highlight>
                  <a:srgbClr val="FFFFFF"/>
                </a:highlight>
                <a:latin typeface="Roboto"/>
                <a:ea typeface="Roboto"/>
                <a:cs typeface="Roboto"/>
                <a:sym typeface="Roboto"/>
              </a:rPr>
              <a:t> rooms produces more ADR as compared to the other room types.</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Longer waiting period does not affect on the cancellation of hotel booking.</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Highest revenue is in the month of </a:t>
            </a:r>
            <a:r>
              <a:rPr lang="en" sz="1400" b="1">
                <a:solidFill>
                  <a:schemeClr val="accent2"/>
                </a:solidFill>
                <a:highlight>
                  <a:srgbClr val="FFFFFF"/>
                </a:highlight>
                <a:latin typeface="Roboto"/>
                <a:ea typeface="Roboto"/>
                <a:cs typeface="Roboto"/>
                <a:sym typeface="Roboto"/>
              </a:rPr>
              <a:t>August</a:t>
            </a:r>
            <a:r>
              <a:rPr lang="en" sz="1400">
                <a:solidFill>
                  <a:schemeClr val="accent2"/>
                </a:solidFill>
                <a:highlight>
                  <a:srgbClr val="FFFFFF"/>
                </a:highlight>
                <a:latin typeface="Roboto"/>
                <a:ea typeface="Roboto"/>
                <a:cs typeface="Roboto"/>
                <a:sym typeface="Roboto"/>
              </a:rPr>
              <a:t> and in the end of the year also generating more revenue.</a:t>
            </a:r>
            <a:endParaRPr sz="1400">
              <a:solidFill>
                <a:schemeClr val="accent2"/>
              </a:solidFill>
              <a:highlight>
                <a:srgbClr val="FFFFFF"/>
              </a:highlight>
              <a:latin typeface="Roboto"/>
              <a:ea typeface="Roboto"/>
              <a:cs typeface="Roboto"/>
              <a:sym typeface="Roboto"/>
            </a:endParaRPr>
          </a:p>
          <a:p>
            <a:pPr marL="0" lvl="0" indent="0" algn="l" rtl="0">
              <a:lnSpc>
                <a:spcPct val="100000"/>
              </a:lnSpc>
              <a:spcBef>
                <a:spcPts val="500"/>
              </a:spcBef>
              <a:spcAft>
                <a:spcPts val="0"/>
              </a:spcAft>
              <a:buClr>
                <a:schemeClr val="dk1"/>
              </a:buClr>
              <a:buSzPts val="275"/>
              <a:buFont typeface="Arial"/>
              <a:buNone/>
            </a:pPr>
            <a:endParaRPr sz="950"/>
          </a:p>
          <a:p>
            <a:pPr marL="0" lvl="0" indent="0" algn="l" rtl="0">
              <a:lnSpc>
                <a:spcPct val="100000"/>
              </a:lnSpc>
              <a:spcBef>
                <a:spcPts val="1200"/>
              </a:spcBef>
              <a:spcAft>
                <a:spcPts val="1200"/>
              </a:spcAft>
              <a:buSzPts val="275"/>
              <a:buNone/>
            </a:pPr>
            <a:endParaRPr sz="950"/>
          </a:p>
        </p:txBody>
      </p:sp>
      <p:pic>
        <p:nvPicPr>
          <p:cNvPr id="293" name="Google Shape;293;p42"/>
          <p:cNvPicPr preferRelativeResize="0"/>
          <p:nvPr/>
        </p:nvPicPr>
        <p:blipFill>
          <a:blip r:embed="rId3">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2"/>
                                        </p:tgtEl>
                                        <p:attrNameLst>
                                          <p:attrName>style.visibility</p:attrName>
                                        </p:attrNameLst>
                                      </p:cBhvr>
                                      <p:to>
                                        <p:strVal val="visible"/>
                                      </p:to>
                                    </p:set>
                                    <p:animEffect transition="in" filter="fade">
                                      <p:cBhvr>
                                        <p:cTn id="7" dur="1000"/>
                                        <p:tgtEl>
                                          <p:spTgt spid="2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pic>
        <p:nvPicPr>
          <p:cNvPr id="298" name="Google Shape;298;p43"/>
          <p:cNvPicPr preferRelativeResize="0"/>
          <p:nvPr/>
        </p:nvPicPr>
        <p:blipFill>
          <a:blip r:embed="rId3">
            <a:alphaModFix/>
          </a:blip>
          <a:stretch>
            <a:fillRect/>
          </a:stretch>
        </p:blipFill>
        <p:spPr>
          <a:xfrm>
            <a:off x="152400" y="152400"/>
            <a:ext cx="8991600" cy="483869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98"/>
                                        </p:tgtEl>
                                        <p:attrNameLst>
                                          <p:attrName>style.visibility</p:attrName>
                                        </p:attrNameLst>
                                      </p:cBhvr>
                                      <p:to>
                                        <p:strVal val="visible"/>
                                      </p:to>
                                    </p:set>
                                    <p:anim calcmode="lin" valueType="num">
                                      <p:cBhvr additive="base">
                                        <p:cTn id="7" dur="1000"/>
                                        <p:tgtEl>
                                          <p:spTgt spid="298"/>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2113</Words>
  <Application>Microsoft Office PowerPoint</Application>
  <PresentationFormat>On-screen Show (16:9)</PresentationFormat>
  <Paragraphs>152</Paragraphs>
  <Slides>31</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Roboto</vt:lpstr>
      <vt:lpstr>Arial</vt:lpstr>
      <vt:lpstr>Comic Sans MS</vt:lpstr>
      <vt:lpstr>Simple Light</vt:lpstr>
      <vt:lpstr>Capstone Project Hotel Booking EDA Analysis </vt:lpstr>
      <vt:lpstr>Content:</vt:lpstr>
      <vt:lpstr>Problem Statements:</vt:lpstr>
      <vt:lpstr>PowerPoint Presentation</vt:lpstr>
      <vt:lpstr>Hotel Booking Analysis and its data?</vt:lpstr>
      <vt:lpstr>Data Summary:</vt:lpstr>
      <vt:lpstr>PowerPoint Presentation</vt:lpstr>
      <vt:lpstr>PowerPoint Presentation</vt:lpstr>
      <vt:lpstr>Flowchart and EDA Analysis:</vt:lpstr>
      <vt:lpstr>Cleaning of Data and Manipulation:</vt:lpstr>
      <vt:lpstr>Removing of Duplicate values</vt:lpstr>
      <vt:lpstr>Dealing with Null Values </vt:lpstr>
      <vt:lpstr>Dealing with Null Values Count</vt:lpstr>
      <vt:lpstr>Converting Data Type</vt:lpstr>
      <vt:lpstr>Data Visualization Let’s take some insights from our data:</vt:lpstr>
      <vt:lpstr>What is the count of each type of Hotels ?</vt:lpstr>
      <vt:lpstr>Data Visualization of hotel type</vt:lpstr>
      <vt:lpstr>Data Visualization</vt:lpstr>
      <vt:lpstr>Data Visualization</vt:lpstr>
      <vt:lpstr>Data Visualization</vt:lpstr>
      <vt:lpstr>Data Visualization </vt:lpstr>
      <vt:lpstr>Data Visualization</vt:lpstr>
      <vt:lpstr>What is the booking rate according to the population?</vt:lpstr>
      <vt:lpstr>Data Visualization</vt:lpstr>
      <vt:lpstr>Data Visualization</vt:lpstr>
      <vt:lpstr>Data Visualization</vt:lpstr>
      <vt:lpstr>Data Visualization</vt:lpstr>
      <vt:lpstr>Data Visualization</vt:lpstr>
      <vt:lpstr>Challenges faced during data exploration</vt:lpstr>
      <vt:lpstr>    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Iqbal, Sarfaraz</cp:lastModifiedBy>
  <cp:revision>1</cp:revision>
  <dcterms:modified xsi:type="dcterms:W3CDTF">2026-06-07T13:31:44Z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c645e4c-ff24-416f-b8d2-b7102f1f1bdb_Enabled">
    <vt:lpwstr>true</vt:lpwstr>
  </property>
  <property fmtid="{D5CDD505-2E9C-101B-9397-08002B2CF9AE}" pid="3" name="MSIP_Label_5c645e4c-ff24-416f-b8d2-b7102f1f1bdb_SetDate">
    <vt:lpwstr>2026-06-07T13:30:05Z</vt:lpwstr>
  </property>
  <property fmtid="{D5CDD505-2E9C-101B-9397-08002B2CF9AE}" pid="4" name="MSIP_Label_5c645e4c-ff24-416f-b8d2-b7102f1f1bdb_Method">
    <vt:lpwstr>Privileged</vt:lpwstr>
  </property>
  <property fmtid="{D5CDD505-2E9C-101B-9397-08002B2CF9AE}" pid="5" name="MSIP_Label_5c645e4c-ff24-416f-b8d2-b7102f1f1bdb_Name">
    <vt:lpwstr>Personal</vt:lpwstr>
  </property>
  <property fmtid="{D5CDD505-2E9C-101B-9397-08002B2CF9AE}" pid="6" name="MSIP_Label_5c645e4c-ff24-416f-b8d2-b7102f1f1bdb_SiteId">
    <vt:lpwstr>abf9983b-ca77-4f20-9633-ca9c5a847041</vt:lpwstr>
  </property>
  <property fmtid="{D5CDD505-2E9C-101B-9397-08002B2CF9AE}" pid="7" name="MSIP_Label_5c645e4c-ff24-416f-b8d2-b7102f1f1bdb_ActionId">
    <vt:lpwstr>0c1d2180-0244-48bf-926d-61af24c0ed49</vt:lpwstr>
  </property>
  <property fmtid="{D5CDD505-2E9C-101B-9397-08002B2CF9AE}" pid="8" name="MSIP_Label_5c645e4c-ff24-416f-b8d2-b7102f1f1bdb_ContentBits">
    <vt:lpwstr>0</vt:lpwstr>
  </property>
  <property fmtid="{D5CDD505-2E9C-101B-9397-08002B2CF9AE}" pid="9" name="MSIP_Label_5c645e4c-ff24-416f-b8d2-b7102f1f1bdb_Tag">
    <vt:lpwstr>10, 0, 1, 1</vt:lpwstr>
  </property>
</Properties>
</file>